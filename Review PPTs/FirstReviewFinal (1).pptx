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1" r:id="rId3"/>
    <p:sldId id="258" r:id="rId4"/>
    <p:sldId id="265" r:id="rId5"/>
    <p:sldId id="266" r:id="rId6"/>
    <p:sldId id="272" r:id="rId7"/>
    <p:sldId id="273" r:id="rId8"/>
    <p:sldId id="260" r:id="rId9"/>
    <p:sldId id="261" r:id="rId10"/>
    <p:sldId id="267" r:id="rId11"/>
    <p:sldId id="2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91EF8-E6D0-41C9-993E-E4E1FB2A32BB}" v="12" dt="2026-09-27T07:01:41.0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varScale="1">
        <p:scale>
          <a:sx n="89" d="100"/>
          <a:sy n="89" d="100"/>
        </p:scale>
        <p:origin x="61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IN"/>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IN"/>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IN"/>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IN"/>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IN"/>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IN"/>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ACBB83-EDC2-4F2A-8DA5-0A899D357E9A}" type="datetimeFigureOut">
              <a:rPr lang="en-IN" smtClean="0"/>
              <a:t>26-09-2026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176372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ACBB83-EDC2-4F2A-8DA5-0A899D357E9A}"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3661259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ACBB83-EDC2-4F2A-8DA5-0A899D357E9A}"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15740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ACBB83-EDC2-4F2A-8DA5-0A899D357E9A}" type="datetimeFigureOut">
              <a:rPr lang="en-IN" smtClean="0"/>
              <a:t>26-09-2026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238164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ACBB83-EDC2-4F2A-8DA5-0A899D357E9A}" type="datetimeFigureOut">
              <a:rPr lang="en-IN" smtClean="0"/>
              <a:t>26-09-2026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2689703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ACBB83-EDC2-4F2A-8DA5-0A899D357E9A}" type="datetimeFigureOut">
              <a:rPr lang="en-IN" smtClean="0"/>
              <a:t>26-09-2026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1541428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ACBB83-EDC2-4F2A-8DA5-0A899D357E9A}" type="datetimeFigureOut">
              <a:rPr lang="en-IN" smtClean="0"/>
              <a:t>26-09-2026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651439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ACBB83-EDC2-4F2A-8DA5-0A899D357E9A}" type="datetimeFigureOut">
              <a:rPr lang="en-IN" smtClean="0"/>
              <a:t>26-09-2026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3658507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ACBB83-EDC2-4F2A-8DA5-0A899D357E9A}" type="datetimeFigureOut">
              <a:rPr lang="en-IN" smtClean="0"/>
              <a:t>26-09-2026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2638375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ACBB83-EDC2-4F2A-8DA5-0A899D357E9A}" type="datetimeFigureOut">
              <a:rPr lang="en-IN" smtClean="0"/>
              <a:t>26-09-2026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2902617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ACBB83-EDC2-4F2A-8DA5-0A899D357E9A}"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3693473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ACBB83-EDC2-4F2A-8DA5-0A899D357E9A}"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1884135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ACBB83-EDC2-4F2A-8DA5-0A899D357E9A}"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5652578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ACBB83-EDC2-4F2A-8DA5-0A899D357E9A}"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20425488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ACBB83-EDC2-4F2A-8DA5-0A899D357E9A}"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1634706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ACBB83-EDC2-4F2A-8DA5-0A899D357E9A}"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2018753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ACBB83-EDC2-4F2A-8DA5-0A899D357E9A}" type="datetimeFigureOut">
              <a:rPr lang="en-IN" smtClean="0"/>
              <a:t>26-09-2026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C0CB01-27E7-480B-87DE-026311DB3B14}" type="slidenum">
              <a:rPr lang="en-IN" smtClean="0"/>
              <a:t>‹#›</a:t>
            </a:fld>
            <a:endParaRPr lang="en-IN"/>
          </a:p>
        </p:txBody>
      </p:sp>
    </p:spTree>
    <p:extLst>
      <p:ext uri="{BB962C8B-B14F-4D97-AF65-F5344CB8AC3E}">
        <p14:creationId xmlns:p14="http://schemas.microsoft.com/office/powerpoint/2010/main" val="1194995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IN"/>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IN"/>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IN"/>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IN"/>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IN"/>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IN"/>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CACBB83-EDC2-4F2A-8DA5-0A899D357E9A}" type="datetimeFigureOut">
              <a:rPr lang="en-IN" smtClean="0"/>
              <a:t>26-09-2026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CC0CB01-27E7-480B-87DE-026311DB3B14}" type="slidenum">
              <a:rPr lang="en-IN" smtClean="0"/>
              <a:t>‹#›</a:t>
            </a:fld>
            <a:endParaRPr lang="en-IN"/>
          </a:p>
        </p:txBody>
      </p:sp>
    </p:spTree>
    <p:extLst>
      <p:ext uri="{BB962C8B-B14F-4D97-AF65-F5344CB8AC3E}">
        <p14:creationId xmlns:p14="http://schemas.microsoft.com/office/powerpoint/2010/main" val="12449245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37DCA-434F-5FAC-5F30-F31C9D491AD5}"/>
              </a:ext>
            </a:extLst>
          </p:cNvPr>
          <p:cNvSpPr>
            <a:spLocks noGrp="1"/>
          </p:cNvSpPr>
          <p:nvPr>
            <p:ph type="ctrTitle"/>
          </p:nvPr>
        </p:nvSpPr>
        <p:spPr>
          <a:xfrm>
            <a:off x="1759951" y="688186"/>
            <a:ext cx="10329407" cy="2285263"/>
          </a:xfrm>
        </p:spPr>
        <p:txBody>
          <a:bodyPr>
            <a:normAutofit/>
          </a:bodyPr>
          <a:lstStyle/>
          <a:p>
            <a:pPr algn="just"/>
            <a:r>
              <a:rPr lang="en-US" sz="4700" dirty="0">
                <a:latin typeface="Times New Roman" panose="02020603050405020304" pitchFamily="18" charset="0"/>
                <a:cs typeface="Times New Roman" panose="02020603050405020304" pitchFamily="18" charset="0"/>
              </a:rPr>
              <a:t>Machine Learning-Based Early Prediction of Fish Diseases Through Water Quality Analysis</a:t>
            </a:r>
            <a:endParaRPr lang="en-IN" sz="47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3F070B1-DB5C-573E-6C93-8603D218C4E9}"/>
              </a:ext>
            </a:extLst>
          </p:cNvPr>
          <p:cNvSpPr>
            <a:spLocks noGrp="1"/>
          </p:cNvSpPr>
          <p:nvPr>
            <p:ph type="subTitle" idx="1"/>
          </p:nvPr>
        </p:nvSpPr>
        <p:spPr>
          <a:xfrm>
            <a:off x="6239152" y="4564785"/>
            <a:ext cx="5757776" cy="1669037"/>
          </a:xfrm>
        </p:spPr>
        <p:txBody>
          <a:bodyPr>
            <a:noAutofit/>
          </a:bodyPr>
          <a:lstStyle/>
          <a:p>
            <a:pPr algn="just"/>
            <a:r>
              <a:rPr lang="en-IN" sz="2400" b="1" dirty="0">
                <a:latin typeface="Times New Roman" panose="02020603050405020304" pitchFamily="18" charset="0"/>
                <a:cs typeface="Times New Roman" panose="02020603050405020304" pitchFamily="18" charset="0"/>
              </a:rPr>
              <a:t>               Presenting by batch 27:</a:t>
            </a:r>
          </a:p>
          <a:p>
            <a:pPr algn="just"/>
            <a:r>
              <a:rPr lang="en-IN" sz="2400" dirty="0">
                <a:latin typeface="Times New Roman" panose="02020603050405020304" pitchFamily="18" charset="0"/>
                <a:cs typeface="Times New Roman" panose="02020603050405020304" pitchFamily="18" charset="0"/>
              </a:rPr>
              <a:t>               23761A12B3 - P. Varalakshmi</a:t>
            </a:r>
          </a:p>
          <a:p>
            <a:pPr algn="just"/>
            <a:r>
              <a:rPr lang="en-IN" sz="2400" dirty="0">
                <a:latin typeface="Times New Roman" panose="02020603050405020304" pitchFamily="18" charset="0"/>
                <a:cs typeface="Times New Roman" panose="02020603050405020304" pitchFamily="18" charset="0"/>
              </a:rPr>
              <a:t>               23761A12B0 - P. Krishna Vamsi</a:t>
            </a:r>
          </a:p>
          <a:p>
            <a:pPr algn="just"/>
            <a:r>
              <a:rPr lang="en-IN" sz="2400" dirty="0">
                <a:latin typeface="Times New Roman" panose="02020603050405020304" pitchFamily="18" charset="0"/>
                <a:cs typeface="Times New Roman" panose="02020603050405020304" pitchFamily="18" charset="0"/>
              </a:rPr>
              <a:t>               23761A1296 - K. Narasimha Rao</a:t>
            </a:r>
          </a:p>
          <a:p>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8A59BEF-850A-FC05-A00C-C6B087BD9F08}"/>
              </a:ext>
            </a:extLst>
          </p:cNvPr>
          <p:cNvSpPr txBox="1"/>
          <p:nvPr/>
        </p:nvSpPr>
        <p:spPr>
          <a:xfrm>
            <a:off x="2403124" y="3522427"/>
            <a:ext cx="4750904" cy="1477328"/>
          </a:xfrm>
          <a:prstGeom prst="rect">
            <a:avLst/>
          </a:prstGeom>
          <a:noFill/>
        </p:spPr>
        <p:txBody>
          <a:bodyPr wrap="square" rtlCol="0">
            <a:spAutoFit/>
          </a:bodyPr>
          <a:lstStyle/>
          <a:p>
            <a:pPr algn="just"/>
            <a:r>
              <a:rPr lang="en-IN" sz="2400" dirty="0">
                <a:latin typeface="Times New Roman" panose="02020603050405020304" pitchFamily="18" charset="0"/>
                <a:cs typeface="Times New Roman" panose="02020603050405020304" pitchFamily="18" charset="0"/>
              </a:rPr>
              <a:t>          Under the Guidance of </a:t>
            </a: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Dr.Bhanu</a:t>
            </a:r>
            <a:r>
              <a:rPr lang="en-IN" sz="2400" dirty="0">
                <a:latin typeface="Times New Roman" panose="02020603050405020304" pitchFamily="18" charset="0"/>
                <a:cs typeface="Times New Roman" panose="02020603050405020304" pitchFamily="18" charset="0"/>
              </a:rPr>
              <a:t> Pratap Reddy B</a:t>
            </a:r>
          </a:p>
          <a:p>
            <a:pPr algn="just"/>
            <a:r>
              <a:rPr lang="en-IN" sz="2400" dirty="0">
                <a:latin typeface="Times New Roman" panose="02020603050405020304" pitchFamily="18" charset="0"/>
                <a:cs typeface="Times New Roman" panose="02020603050405020304" pitchFamily="18" charset="0"/>
              </a:rPr>
              <a:t>          Associate Professor</a:t>
            </a:r>
          </a:p>
          <a:p>
            <a:endParaRPr lang="en-IN" dirty="0"/>
          </a:p>
        </p:txBody>
      </p:sp>
    </p:spTree>
    <p:extLst>
      <p:ext uri="{BB962C8B-B14F-4D97-AF65-F5344CB8AC3E}">
        <p14:creationId xmlns:p14="http://schemas.microsoft.com/office/powerpoint/2010/main" val="3609458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4467D-8AFB-ECEB-2265-6291C225F7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17BF5-C1AE-0B38-91C8-7F77124D9830}"/>
              </a:ext>
            </a:extLst>
          </p:cNvPr>
          <p:cNvSpPr>
            <a:spLocks noGrp="1"/>
          </p:cNvSpPr>
          <p:nvPr>
            <p:ph type="title"/>
          </p:nvPr>
        </p:nvSpPr>
        <p:spPr>
          <a:xfrm>
            <a:off x="1808923" y="367749"/>
            <a:ext cx="9694101" cy="1302026"/>
          </a:xfrm>
        </p:spPr>
        <p:txBody>
          <a:bodyPr/>
          <a:lstStyle/>
          <a:p>
            <a:pPr algn="l"/>
            <a:r>
              <a:rPr lang="en-IN" dirty="0">
                <a:latin typeface="Times New Roman" panose="02020603050405020304" pitchFamily="18" charset="0"/>
                <a:cs typeface="Times New Roman" panose="02020603050405020304" pitchFamily="18" charset="0"/>
              </a:rPr>
              <a:t>Outline</a:t>
            </a:r>
          </a:p>
        </p:txBody>
      </p:sp>
      <p:sp>
        <p:nvSpPr>
          <p:cNvPr id="3" name="Content Placeholder 2">
            <a:extLst>
              <a:ext uri="{FF2B5EF4-FFF2-40B4-BE49-F238E27FC236}">
                <a16:creationId xmlns:a16="http://schemas.microsoft.com/office/drawing/2014/main" id="{DBF283FC-D006-120D-E397-28F6EF6074D3}"/>
              </a:ext>
            </a:extLst>
          </p:cNvPr>
          <p:cNvSpPr>
            <a:spLocks noGrp="1"/>
          </p:cNvSpPr>
          <p:nvPr>
            <p:ph idx="1"/>
          </p:nvPr>
        </p:nvSpPr>
        <p:spPr>
          <a:xfrm>
            <a:off x="2236304" y="1669775"/>
            <a:ext cx="9266720" cy="4641574"/>
          </a:xfrm>
        </p:spPr>
        <p:txBody>
          <a:bodyPr>
            <a:normAutofit lnSpcReduction="10000"/>
          </a:bodyPr>
          <a:lstStyle/>
          <a:p>
            <a:r>
              <a:rPr lang="en-IN" sz="2600" dirty="0">
                <a:latin typeface="Times New Roman" panose="02020603050405020304" pitchFamily="18" charset="0"/>
                <a:cs typeface="Times New Roman" panose="02020603050405020304" pitchFamily="18" charset="0"/>
              </a:rPr>
              <a:t>Abstract</a:t>
            </a:r>
          </a:p>
          <a:p>
            <a:r>
              <a:rPr lang="en-IN" sz="2600" dirty="0">
                <a:latin typeface="Times New Roman" panose="02020603050405020304" pitchFamily="18" charset="0"/>
                <a:cs typeface="Times New Roman" panose="02020603050405020304" pitchFamily="18" charset="0"/>
              </a:rPr>
              <a:t>Existing System</a:t>
            </a:r>
          </a:p>
          <a:p>
            <a:pPr lvl="1"/>
            <a:r>
              <a:rPr lang="en-IN" sz="2600" dirty="0">
                <a:latin typeface="Times New Roman" panose="02020603050405020304" pitchFamily="18" charset="0"/>
                <a:cs typeface="Times New Roman" panose="02020603050405020304" pitchFamily="18" charset="0"/>
              </a:rPr>
              <a:t>Disadvantages</a:t>
            </a:r>
          </a:p>
          <a:p>
            <a:r>
              <a:rPr lang="en-IN" sz="2600" dirty="0">
                <a:latin typeface="Times New Roman" panose="02020603050405020304" pitchFamily="18" charset="0"/>
                <a:cs typeface="Times New Roman" panose="02020603050405020304" pitchFamily="18" charset="0"/>
              </a:rPr>
              <a:t>Proposed System</a:t>
            </a:r>
          </a:p>
          <a:p>
            <a:pPr lvl="1"/>
            <a:r>
              <a:rPr lang="en-IN" sz="2600" dirty="0">
                <a:latin typeface="Times New Roman" panose="02020603050405020304" pitchFamily="18" charset="0"/>
                <a:cs typeface="Times New Roman" panose="02020603050405020304" pitchFamily="18" charset="0"/>
              </a:rPr>
              <a:t>Advantages</a:t>
            </a:r>
          </a:p>
          <a:p>
            <a:r>
              <a:rPr lang="en-IN" sz="2600" dirty="0">
                <a:latin typeface="Times New Roman" panose="02020603050405020304" pitchFamily="18" charset="0"/>
                <a:cs typeface="Times New Roman" panose="02020603050405020304" pitchFamily="18" charset="0"/>
              </a:rPr>
              <a:t>Literature Survey</a:t>
            </a:r>
          </a:p>
          <a:p>
            <a:r>
              <a:rPr lang="en-IN" sz="2600" dirty="0">
                <a:latin typeface="Times New Roman" panose="02020603050405020304" pitchFamily="18" charset="0"/>
                <a:cs typeface="Times New Roman" panose="02020603050405020304" pitchFamily="18" charset="0"/>
              </a:rPr>
              <a:t>System Design</a:t>
            </a:r>
          </a:p>
          <a:p>
            <a:r>
              <a:rPr lang="en-IN" sz="2600" dirty="0">
                <a:latin typeface="Times New Roman" panose="02020603050405020304" pitchFamily="18" charset="0"/>
                <a:cs typeface="Times New Roman" panose="02020603050405020304" pitchFamily="18" charset="0"/>
              </a:rPr>
              <a:t>Implementation</a:t>
            </a:r>
          </a:p>
          <a:p>
            <a:r>
              <a:rPr lang="en-IN" sz="2600" dirty="0">
                <a:latin typeface="Times New Roman" panose="02020603050405020304" pitchFamily="18" charset="0"/>
                <a:cs typeface="Times New Roman" panose="02020603050405020304" pitchFamily="18" charset="0"/>
              </a:rPr>
              <a:t>References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2023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81AC3-1A41-9395-DC87-27EBC0285D06}"/>
              </a:ext>
            </a:extLst>
          </p:cNvPr>
          <p:cNvSpPr>
            <a:spLocks noGrp="1"/>
          </p:cNvSpPr>
          <p:nvPr>
            <p:ph type="title"/>
          </p:nvPr>
        </p:nvSpPr>
        <p:spPr>
          <a:xfrm>
            <a:off x="-1902702" y="394524"/>
            <a:ext cx="10018713" cy="864704"/>
          </a:xfrm>
        </p:spPr>
        <p:txBody>
          <a:bodyPr/>
          <a:lstStyle/>
          <a:p>
            <a:r>
              <a:rPr lang="en-IN"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39B89AF4-1FBD-F426-1F94-D5859817ED5F}"/>
              </a:ext>
            </a:extLst>
          </p:cNvPr>
          <p:cNvSpPr>
            <a:spLocks noGrp="1"/>
          </p:cNvSpPr>
          <p:nvPr>
            <p:ph idx="1"/>
          </p:nvPr>
        </p:nvSpPr>
        <p:spPr>
          <a:xfrm>
            <a:off x="1638769" y="1259228"/>
            <a:ext cx="10098226" cy="4820477"/>
          </a:xfrm>
        </p:spPr>
        <p:txBody>
          <a:bodyPr>
            <a:noAutofit/>
          </a:bodyPr>
          <a:lstStyle/>
          <a:p>
            <a:pPr marL="0" indent="0" algn="just">
              <a:lnSpc>
                <a:spcPct val="160000"/>
              </a:lnSpc>
              <a:buNone/>
            </a:pPr>
            <a:r>
              <a:rPr lang="en-US" sz="2000" dirty="0">
                <a:latin typeface="Times New Roman" panose="02020603050405020304" pitchFamily="18" charset="0"/>
                <a:cs typeface="Times New Roman" panose="02020603050405020304" pitchFamily="18" charset="0"/>
              </a:rPr>
              <a:t>Aquaculture plays a significant role in food production and the economy, but fish diseases continue to be a major challenge for fish farmers. One of the primary causes of these diseases is poor water quality, which directly affects the health and growth of fish. This project presents a machine learning-based approach for the early detection of fish health risks using important water quality parameters such as pH, dissolved oxygen (DO), temperature, turbidity, conductivity, nitrate, biological oxygen demand (BOD), and bacterial indicators. The proposed solution offers an efficient, cost-effective, and intelligent decision support system for aquaculture management. By enabling early detection of potential health risks, it helps improve fish survival, reduce disease outbreaks, enhance water quality management, and support sustainable fish farming practices.</a:t>
            </a:r>
          </a:p>
        </p:txBody>
      </p:sp>
    </p:spTree>
    <p:extLst>
      <p:ext uri="{BB962C8B-B14F-4D97-AF65-F5344CB8AC3E}">
        <p14:creationId xmlns:p14="http://schemas.microsoft.com/office/powerpoint/2010/main" val="3932282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CE1CC-C2CA-4947-61F9-2BE26528C640}"/>
              </a:ext>
            </a:extLst>
          </p:cNvPr>
          <p:cNvSpPr>
            <a:spLocks noGrp="1"/>
          </p:cNvSpPr>
          <p:nvPr>
            <p:ph type="title"/>
          </p:nvPr>
        </p:nvSpPr>
        <p:spPr>
          <a:xfrm>
            <a:off x="1484310" y="258419"/>
            <a:ext cx="10018713" cy="934278"/>
          </a:xfrm>
        </p:spPr>
        <p:txBody>
          <a:bodyPr/>
          <a:lstStyle/>
          <a:p>
            <a:pPr algn="l"/>
            <a:r>
              <a:rPr lang="en-IN"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DF774CDC-97F5-8C91-F0CD-4D7C3544097F}"/>
              </a:ext>
            </a:extLst>
          </p:cNvPr>
          <p:cNvSpPr>
            <a:spLocks noGrp="1"/>
          </p:cNvSpPr>
          <p:nvPr>
            <p:ph idx="1"/>
          </p:nvPr>
        </p:nvSpPr>
        <p:spPr>
          <a:xfrm>
            <a:off x="1484310" y="1192697"/>
            <a:ext cx="10422556" cy="4657873"/>
          </a:xfrm>
        </p:spPr>
        <p:txBody>
          <a:bodyPr>
            <a:normAutofit/>
          </a:bodyPr>
          <a:lstStyle/>
          <a:p>
            <a:pPr marL="0" indent="0">
              <a:lnSpc>
                <a:spcPct val="110000"/>
              </a:lnSpc>
              <a:buNone/>
            </a:pPr>
            <a:r>
              <a:rPr lang="en-IN" sz="2800" b="1" dirty="0">
                <a:latin typeface="Times New Roman" panose="02020603050405020304" pitchFamily="18" charset="0"/>
                <a:cs typeface="Times New Roman" panose="02020603050405020304" pitchFamily="18" charset="0"/>
              </a:rPr>
              <a:t>Disadvantages</a:t>
            </a:r>
          </a:p>
          <a:p>
            <a:pPr>
              <a:lnSpc>
                <a:spcPct val="110000"/>
              </a:lnSpc>
            </a:pPr>
            <a:r>
              <a:rPr lang="en-US" dirty="0">
                <a:latin typeface="Times New Roman" panose="02020603050405020304" pitchFamily="18" charset="0"/>
                <a:cs typeface="Times New Roman" panose="02020603050405020304" pitchFamily="18" charset="0"/>
              </a:rPr>
              <a:t>Uses only one or two machine learning algorithm.</a:t>
            </a:r>
          </a:p>
          <a:p>
            <a:pPr>
              <a:lnSpc>
                <a:spcPct val="110000"/>
              </a:lnSpc>
            </a:pPr>
            <a:r>
              <a:rPr lang="en-US" dirty="0">
                <a:latin typeface="Times New Roman" panose="02020603050405020304" pitchFamily="18" charset="0"/>
                <a:cs typeface="Times New Roman" panose="02020603050405020304" pitchFamily="18" charset="0"/>
              </a:rPr>
              <a:t>Focuses only on disease prediction and does not provide the reason behind the prediction.</a:t>
            </a:r>
          </a:p>
          <a:p>
            <a:pPr>
              <a:lnSpc>
                <a:spcPct val="110000"/>
              </a:lnSpc>
            </a:pPr>
            <a:r>
              <a:rPr lang="en-US" dirty="0">
                <a:latin typeface="Times New Roman" panose="02020603050405020304" pitchFamily="18" charset="0"/>
                <a:cs typeface="Times New Roman" panose="02020603050405020304" pitchFamily="18" charset="0"/>
              </a:rPr>
              <a:t>Does not offer recommendations or preventive measures to improve water quality.</a:t>
            </a:r>
          </a:p>
          <a:p>
            <a:pPr>
              <a:lnSpc>
                <a:spcPct val="110000"/>
              </a:lnSpc>
            </a:pPr>
            <a:r>
              <a:rPr lang="en-US" dirty="0">
                <a:latin typeface="Times New Roman" panose="02020603050405020304" pitchFamily="18" charset="0"/>
                <a:cs typeface="Times New Roman" panose="02020603050405020304" pitchFamily="18" charset="0"/>
              </a:rPr>
              <a:t>No dashboard for visualizing predictions and water quality analysis.</a:t>
            </a:r>
            <a:endParaRPr lang="en-IN" sz="2800" dirty="0">
              <a:latin typeface="Times New Roman" panose="02020603050405020304" pitchFamily="18" charset="0"/>
              <a:cs typeface="Times New Roman" panose="02020603050405020304" pitchFamily="18" charset="0"/>
            </a:endParaRPr>
          </a:p>
          <a:p>
            <a:pPr>
              <a:lnSpc>
                <a:spcPct val="110000"/>
              </a:lnSpc>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9865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A9735-17DE-63FD-EB5B-9BCE3FF7647C}"/>
              </a:ext>
            </a:extLst>
          </p:cNvPr>
          <p:cNvSpPr>
            <a:spLocks noGrp="1"/>
          </p:cNvSpPr>
          <p:nvPr>
            <p:ph type="title"/>
          </p:nvPr>
        </p:nvSpPr>
        <p:spPr>
          <a:xfrm>
            <a:off x="1489179" y="-14908"/>
            <a:ext cx="10018713" cy="897105"/>
          </a:xfrm>
        </p:spPr>
        <p:txBody>
          <a:bodyPr/>
          <a:lstStyle/>
          <a:p>
            <a:pPr algn="l"/>
            <a:r>
              <a:rPr lang="en-IN" dirty="0">
                <a:latin typeface="Times New Roman" panose="02020603050405020304" pitchFamily="18" charset="0"/>
                <a:cs typeface="Times New Roman" panose="02020603050405020304" pitchFamily="18" charset="0"/>
              </a:rPr>
              <a:t> PROPOSED SYSTEM</a:t>
            </a:r>
          </a:p>
        </p:txBody>
      </p:sp>
      <p:sp>
        <p:nvSpPr>
          <p:cNvPr id="3" name="Content Placeholder 2">
            <a:extLst>
              <a:ext uri="{FF2B5EF4-FFF2-40B4-BE49-F238E27FC236}">
                <a16:creationId xmlns:a16="http://schemas.microsoft.com/office/drawing/2014/main" id="{52D824F0-205E-83F4-7846-A960F27C4EF6}"/>
              </a:ext>
            </a:extLst>
          </p:cNvPr>
          <p:cNvSpPr>
            <a:spLocks noGrp="1"/>
          </p:cNvSpPr>
          <p:nvPr>
            <p:ph idx="1"/>
          </p:nvPr>
        </p:nvSpPr>
        <p:spPr>
          <a:xfrm>
            <a:off x="1660844" y="300412"/>
            <a:ext cx="10241196" cy="5756844"/>
          </a:xfrm>
        </p:spPr>
        <p:txBody>
          <a:bodyPr>
            <a:noAutofit/>
          </a:bodyPr>
          <a:lstStyle/>
          <a:p>
            <a:pPr marL="0" indent="0" algn="just">
              <a:buNone/>
            </a:pPr>
            <a:endParaRPr lang="en-IN" sz="1400" b="1" dirty="0">
              <a:latin typeface="Times New Roman" panose="02020603050405020304" pitchFamily="18" charset="0"/>
              <a:cs typeface="Times New Roman" panose="02020603050405020304" pitchFamily="18" charset="0"/>
            </a:endParaRPr>
          </a:p>
          <a:p>
            <a:pPr marL="0" indent="0" algn="just">
              <a:buNone/>
            </a:pPr>
            <a:r>
              <a:rPr lang="en-IN" sz="2800" b="1" dirty="0">
                <a:latin typeface="Times New Roman" panose="02020603050405020304" pitchFamily="18" charset="0"/>
                <a:cs typeface="Times New Roman" panose="02020603050405020304" pitchFamily="18" charset="0"/>
              </a:rPr>
              <a:t>Advantages:</a:t>
            </a:r>
          </a:p>
          <a:p>
            <a:pPr algn="just"/>
            <a:r>
              <a:rPr lang="en-US" dirty="0">
                <a:latin typeface="Times New Roman" panose="02020603050405020304" pitchFamily="18" charset="0"/>
                <a:cs typeface="Times New Roman" panose="02020603050405020304" pitchFamily="18" charset="0"/>
              </a:rPr>
              <a:t>Trains and compares multiple machine learning algorithms and  select the best-performing model for higher prediction accuracy.</a:t>
            </a:r>
          </a:p>
          <a:p>
            <a:pPr algn="just"/>
            <a:r>
              <a:rPr lang="en-US" dirty="0">
                <a:latin typeface="Times New Roman" panose="02020603050405020304" pitchFamily="18" charset="0"/>
                <a:cs typeface="Times New Roman" panose="02020603050405020304" pitchFamily="18" charset="0"/>
              </a:rPr>
              <a:t>Classifies different types of fish diseases instead of only predicting whether the fish is healthy or diseased.</a:t>
            </a:r>
          </a:p>
          <a:p>
            <a:pPr algn="just"/>
            <a:r>
              <a:rPr lang="en-US" dirty="0">
                <a:latin typeface="Times New Roman" panose="02020603050405020304" pitchFamily="18" charset="0"/>
                <a:cs typeface="Times New Roman" panose="02020603050405020304" pitchFamily="18" charset="0"/>
              </a:rPr>
              <a:t> Identifies the water quality parameters which are responsible for the predicted disease. </a:t>
            </a:r>
          </a:p>
          <a:p>
            <a:pPr algn="just"/>
            <a:r>
              <a:rPr lang="en-US" dirty="0">
                <a:latin typeface="Times New Roman" panose="02020603050405020304" pitchFamily="18" charset="0"/>
                <a:cs typeface="Times New Roman" panose="02020603050405020304" pitchFamily="18" charset="0"/>
              </a:rPr>
              <a:t>Provides recommendations to improve water quality and reduce the risk of disease.</a:t>
            </a:r>
          </a:p>
          <a:p>
            <a:pPr algn="just"/>
            <a:r>
              <a:rPr lang="en-US" dirty="0">
                <a:latin typeface="Times New Roman" panose="02020603050405020304" pitchFamily="18" charset="0"/>
                <a:cs typeface="Times New Roman" panose="02020603050405020304" pitchFamily="18" charset="0"/>
              </a:rPr>
              <a:t>Features an interactive dashboard to display prediction results, performance metrics, and water quality analysis.</a:t>
            </a:r>
          </a:p>
        </p:txBody>
      </p:sp>
    </p:spTree>
    <p:extLst>
      <p:ext uri="{BB962C8B-B14F-4D97-AF65-F5344CB8AC3E}">
        <p14:creationId xmlns:p14="http://schemas.microsoft.com/office/powerpoint/2010/main" val="3530777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83B5D-FA8D-8472-ACFF-4DD14867EF1F}"/>
              </a:ext>
            </a:extLst>
          </p:cNvPr>
          <p:cNvSpPr>
            <a:spLocks noGrp="1"/>
          </p:cNvSpPr>
          <p:nvPr>
            <p:ph type="title"/>
          </p:nvPr>
        </p:nvSpPr>
        <p:spPr>
          <a:xfrm>
            <a:off x="1475684" y="223837"/>
            <a:ext cx="10018713" cy="1082615"/>
          </a:xfrm>
        </p:spPr>
        <p:txBody>
          <a:bodyPr/>
          <a:lstStyle/>
          <a:p>
            <a:r>
              <a:rPr lang="en-US" dirty="0">
                <a:latin typeface="Times New Roman" panose="02020603050405020304" pitchFamily="18" charset="0"/>
                <a:cs typeface="Times New Roman" panose="02020603050405020304" pitchFamily="18" charset="0"/>
              </a:rPr>
              <a:t>System Design</a:t>
            </a:r>
            <a:endParaRPr lang="en-IN"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9F290E40-EC07-42CE-9382-04BFD2ADC971}"/>
              </a:ext>
            </a:extLst>
          </p:cNvPr>
          <p:cNvPicPr>
            <a:picLocks noGrp="1" noChangeAspect="1"/>
          </p:cNvPicPr>
          <p:nvPr>
            <p:ph idx="1"/>
          </p:nvPr>
        </p:nvPicPr>
        <p:blipFill>
          <a:blip r:embed="rId2"/>
          <a:stretch>
            <a:fillRect/>
          </a:stretch>
        </p:blipFill>
        <p:spPr>
          <a:xfrm>
            <a:off x="2145786" y="1110129"/>
            <a:ext cx="9155203" cy="5397499"/>
          </a:xfrm>
          <a:prstGeom prst="rect">
            <a:avLst/>
          </a:prstGeom>
        </p:spPr>
      </p:pic>
    </p:spTree>
    <p:extLst>
      <p:ext uri="{BB962C8B-B14F-4D97-AF65-F5344CB8AC3E}">
        <p14:creationId xmlns:p14="http://schemas.microsoft.com/office/powerpoint/2010/main" val="3259839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4252F-E0CB-F31C-0A41-BC94F8F7E990}"/>
              </a:ext>
            </a:extLst>
          </p:cNvPr>
          <p:cNvSpPr>
            <a:spLocks noGrp="1"/>
          </p:cNvSpPr>
          <p:nvPr>
            <p:ph type="title"/>
          </p:nvPr>
        </p:nvSpPr>
        <p:spPr>
          <a:xfrm>
            <a:off x="1484310" y="280360"/>
            <a:ext cx="10018713" cy="1401792"/>
          </a:xfrm>
        </p:spPr>
        <p:txBody>
          <a:bodyPr/>
          <a:lstStyle/>
          <a:p>
            <a:r>
              <a:rPr lang="en-US" dirty="0">
                <a:latin typeface="Times New Roman" panose="02020603050405020304" pitchFamily="18" charset="0"/>
                <a:cs typeface="Times New Roman" panose="02020603050405020304" pitchFamily="18" charset="0"/>
              </a:rPr>
              <a:t>Implementation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7C4C96A-E694-7FF3-CB3A-FA14058D2433}"/>
              </a:ext>
            </a:extLst>
          </p:cNvPr>
          <p:cNvSpPr>
            <a:spLocks noGrp="1"/>
          </p:cNvSpPr>
          <p:nvPr>
            <p:ph idx="1"/>
          </p:nvPr>
        </p:nvSpPr>
        <p:spPr>
          <a:xfrm>
            <a:off x="1484310" y="1328469"/>
            <a:ext cx="10018713" cy="4537493"/>
          </a:xfrm>
        </p:spPr>
        <p:txBody>
          <a:bodyPr>
            <a:normAutofit/>
          </a:bodyPr>
          <a:lstStyle/>
          <a:p>
            <a:pPr algn="just"/>
            <a:r>
              <a:rPr lang="en-US" b="1" dirty="0">
                <a:latin typeface="Times New Roman" panose="02020603050405020304" pitchFamily="18" charset="0"/>
                <a:cs typeface="Times New Roman" panose="02020603050405020304" pitchFamily="18" charset="0"/>
              </a:rPr>
              <a:t>Data Collection -</a:t>
            </a:r>
            <a:r>
              <a:rPr lang="en-US" dirty="0">
                <a:latin typeface="Times New Roman" panose="02020603050405020304" pitchFamily="18" charset="0"/>
                <a:cs typeface="Times New Roman" panose="02020603050405020304" pitchFamily="18" charset="0"/>
              </a:rPr>
              <a:t> Collect water-quality data and confirmed fish-disease records such as pH, temperature, DO, ammonia, nitrite and turbidity.</a:t>
            </a:r>
          </a:p>
          <a:p>
            <a:pPr algn="just"/>
            <a:r>
              <a:rPr lang="en-US" b="1" dirty="0">
                <a:latin typeface="Times New Roman" panose="02020603050405020304" pitchFamily="18" charset="0"/>
                <a:cs typeface="Times New Roman" panose="02020603050405020304" pitchFamily="18" charset="0"/>
              </a:rPr>
              <a:t>Data Preprocessing -</a:t>
            </a:r>
            <a:r>
              <a:rPr lang="en-US" dirty="0">
                <a:latin typeface="Times New Roman" panose="02020603050405020304" pitchFamily="18" charset="0"/>
                <a:cs typeface="Times New Roman" panose="02020603050405020304" pitchFamily="18" charset="0"/>
              </a:rPr>
              <a:t> Clean the dataset by handling missing values, removing duplicates, checking outliers, and encoding labels.</a:t>
            </a:r>
          </a:p>
          <a:p>
            <a:pPr algn="just"/>
            <a:r>
              <a:rPr lang="en-US" b="1" dirty="0">
                <a:latin typeface="Times New Roman" panose="02020603050405020304" pitchFamily="18" charset="0"/>
                <a:cs typeface="Times New Roman" panose="02020603050405020304" pitchFamily="18" charset="0"/>
              </a:rPr>
              <a:t>Feature Selection &amp; Model Training -</a:t>
            </a:r>
            <a:r>
              <a:rPr lang="en-US" dirty="0">
                <a:latin typeface="Times New Roman" panose="02020603050405020304" pitchFamily="18" charset="0"/>
                <a:cs typeface="Times New Roman" panose="02020603050405020304" pitchFamily="18" charset="0"/>
              </a:rPr>
              <a:t> Select important water-quality parameters and train Gradient Boosting, Support Vector Machine.</a:t>
            </a:r>
          </a:p>
          <a:p>
            <a:pPr algn="just"/>
            <a:r>
              <a:rPr lang="en-US" b="1" dirty="0">
                <a:latin typeface="Times New Roman" panose="02020603050405020304" pitchFamily="18" charset="0"/>
                <a:cs typeface="Times New Roman" panose="02020603050405020304" pitchFamily="18" charset="0"/>
              </a:rPr>
              <a:t>Model Evaluation &amp; Prediction -</a:t>
            </a:r>
            <a:r>
              <a:rPr lang="en-US" dirty="0">
                <a:latin typeface="Times New Roman" panose="02020603050405020304" pitchFamily="18" charset="0"/>
                <a:cs typeface="Times New Roman" panose="02020603050405020304" pitchFamily="18" charset="0"/>
              </a:rPr>
              <a:t> Comparing the models using Accuracy, Precision, Recall, F1-score and Confusion Matrix, then select the best-performing model for prediction.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6478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B51D7-54EC-9735-D38A-09C4BB65EA7E}"/>
              </a:ext>
            </a:extLst>
          </p:cNvPr>
          <p:cNvSpPr>
            <a:spLocks noGrp="1"/>
          </p:cNvSpPr>
          <p:nvPr>
            <p:ph type="title"/>
          </p:nvPr>
        </p:nvSpPr>
        <p:spPr>
          <a:xfrm>
            <a:off x="1553885" y="0"/>
            <a:ext cx="10018713" cy="1182757"/>
          </a:xfrm>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Content Placeholder 3">
            <a:extLst>
              <a:ext uri="{FF2B5EF4-FFF2-40B4-BE49-F238E27FC236}">
                <a16:creationId xmlns:a16="http://schemas.microsoft.com/office/drawing/2014/main" id="{2A660805-464B-0530-D4EE-A1E864243791}"/>
              </a:ext>
            </a:extLst>
          </p:cNvPr>
          <p:cNvGraphicFramePr>
            <a:graphicFrameLocks noGrp="1"/>
          </p:cNvGraphicFramePr>
          <p:nvPr>
            <p:ph idx="1"/>
            <p:extLst>
              <p:ext uri="{D42A27DB-BD31-4B8C-83A1-F6EECF244321}">
                <p14:modId xmlns:p14="http://schemas.microsoft.com/office/powerpoint/2010/main" val="4042657276"/>
              </p:ext>
            </p:extLst>
          </p:nvPr>
        </p:nvGraphicFramePr>
        <p:xfrm>
          <a:off x="1390261" y="1393069"/>
          <a:ext cx="10477274" cy="5049078"/>
        </p:xfrm>
        <a:graphic>
          <a:graphicData uri="http://schemas.openxmlformats.org/drawingml/2006/table">
            <a:tbl>
              <a:tblPr firstRow="1" bandRow="1">
                <a:tableStyleId>{22838BEF-8BB2-4498-84A7-C5851F593DF1}</a:tableStyleId>
              </a:tblPr>
              <a:tblGrid>
                <a:gridCol w="2414823">
                  <a:extLst>
                    <a:ext uri="{9D8B030D-6E8A-4147-A177-3AD203B41FA5}">
                      <a16:colId xmlns:a16="http://schemas.microsoft.com/office/drawing/2014/main" val="2913034171"/>
                    </a:ext>
                  </a:extLst>
                </a:gridCol>
                <a:gridCol w="816077">
                  <a:extLst>
                    <a:ext uri="{9D8B030D-6E8A-4147-A177-3AD203B41FA5}">
                      <a16:colId xmlns:a16="http://schemas.microsoft.com/office/drawing/2014/main" val="3165508532"/>
                    </a:ext>
                  </a:extLst>
                </a:gridCol>
                <a:gridCol w="1351014">
                  <a:extLst>
                    <a:ext uri="{9D8B030D-6E8A-4147-A177-3AD203B41FA5}">
                      <a16:colId xmlns:a16="http://schemas.microsoft.com/office/drawing/2014/main" val="2588059318"/>
                    </a:ext>
                  </a:extLst>
                </a:gridCol>
                <a:gridCol w="2386155">
                  <a:extLst>
                    <a:ext uri="{9D8B030D-6E8A-4147-A177-3AD203B41FA5}">
                      <a16:colId xmlns:a16="http://schemas.microsoft.com/office/drawing/2014/main" val="558017383"/>
                    </a:ext>
                  </a:extLst>
                </a:gridCol>
                <a:gridCol w="2082744">
                  <a:extLst>
                    <a:ext uri="{9D8B030D-6E8A-4147-A177-3AD203B41FA5}">
                      <a16:colId xmlns:a16="http://schemas.microsoft.com/office/drawing/2014/main" val="1664649460"/>
                    </a:ext>
                  </a:extLst>
                </a:gridCol>
                <a:gridCol w="1426461">
                  <a:extLst>
                    <a:ext uri="{9D8B030D-6E8A-4147-A177-3AD203B41FA5}">
                      <a16:colId xmlns:a16="http://schemas.microsoft.com/office/drawing/2014/main" val="3498151070"/>
                    </a:ext>
                  </a:extLst>
                </a:gridCol>
              </a:tblGrid>
              <a:tr h="934278">
                <a:tc>
                  <a:txBody>
                    <a:bodyPr/>
                    <a:lstStyle/>
                    <a:p>
                      <a:r>
                        <a:rPr lang="en-US" sz="2400" dirty="0">
                          <a:latin typeface="Times New Roman" panose="02020603050405020304" pitchFamily="18" charset="0"/>
                          <a:cs typeface="Times New Roman" panose="02020603050405020304" pitchFamily="18" charset="0"/>
                        </a:rPr>
                        <a:t>Paper Title</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Year</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Author</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Methods/Models Used</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Key Contribution</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Accuracy</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2916615"/>
                  </a:ext>
                </a:extLst>
              </a:tr>
              <a:tr h="1165363">
                <a:tc>
                  <a:txBody>
                    <a:bodyPr/>
                    <a:lstStyle/>
                    <a:p>
                      <a:pPr algn="l"/>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Predictive Modelling of Fish Diseases Using Machine Learning on Water Quality Parameters   [1]</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txBody>
                  <a:tcPr/>
                </a:tc>
                <a:tc>
                  <a:txBody>
                    <a:bodyPr/>
                    <a:lstStyle/>
                    <a:p>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N Srujana Roy</a:t>
                      </a:r>
                      <a:endParaRPr lang="en-IN" b="0" dirty="0">
                        <a:latin typeface="Times New Roman" panose="02020603050405020304" pitchFamily="18" charset="0"/>
                        <a:cs typeface="Times New Roman" panose="02020603050405020304" pitchFamily="18" charset="0"/>
                      </a:endParaRPr>
                    </a:p>
                  </a:txBody>
                  <a:tcPr/>
                </a:tc>
                <a:tc>
                  <a:txBody>
                    <a:bodyPr/>
                    <a:lstStyle/>
                    <a:p>
                      <a:r>
                        <a:rPr lang="en-IN" sz="1800" b="0" i="0" kern="1200" dirty="0">
                          <a:solidFill>
                            <a:schemeClr val="dk1"/>
                          </a:solidFill>
                          <a:effectLst/>
                          <a:latin typeface="Times New Roman" panose="02020603050405020304" pitchFamily="18" charset="0"/>
                          <a:ea typeface="+mn-ea"/>
                          <a:cs typeface="Times New Roman" panose="02020603050405020304" pitchFamily="18" charset="0"/>
                        </a:rPr>
                        <a:t>Random Forest Classifier</a:t>
                      </a:r>
                      <a:endParaRPr lang="en-IN" b="0"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predicts fish disease conditions using water quality parameters.</a:t>
                      </a:r>
                    </a:p>
                  </a:txBody>
                  <a:tcPr/>
                </a:tc>
                <a:tc>
                  <a:txBody>
                    <a:bodyPr/>
                    <a:lstStyle/>
                    <a:p>
                      <a:r>
                        <a:rPr lang="en-US" dirty="0">
                          <a:latin typeface="Times New Roman" panose="02020603050405020304" pitchFamily="18" charset="0"/>
                          <a:cs typeface="Times New Roman" panose="02020603050405020304" pitchFamily="18" charset="0"/>
                        </a:rPr>
                        <a:t>89%</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55530275"/>
                  </a:ext>
                </a:extLst>
              </a:tr>
              <a:tr h="1165363">
                <a:tc>
                  <a:txBody>
                    <a:bodyPr/>
                    <a:lstStyle/>
                    <a:p>
                      <a:r>
                        <a:rPr lang="en-IN" dirty="0">
                          <a:latin typeface="Times New Roman" panose="02020603050405020304" pitchFamily="18" charset="0"/>
                          <a:cs typeface="Times New Roman" panose="02020603050405020304" pitchFamily="18" charset="0"/>
                        </a:rPr>
                        <a:t>AI-powered decision support system for mariculture: Real-time fish mortality prediction with random forest</a:t>
                      </a:r>
                    </a:p>
                  </a:txBody>
                  <a:tcPr/>
                </a:tc>
                <a:tc>
                  <a:txBody>
                    <a:bodyPr/>
                    <a:lstStyle/>
                    <a:p>
                      <a:r>
                        <a:rPr lang="en-US" dirty="0">
                          <a:latin typeface="Times New Roman" panose="02020603050405020304" pitchFamily="18" charset="0"/>
                          <a:cs typeface="Times New Roman" panose="02020603050405020304" pitchFamily="18" charset="0"/>
                        </a:rPr>
                        <a:t>2026</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err="1">
                          <a:latin typeface="Times New Roman" panose="02020603050405020304" pitchFamily="18" charset="0"/>
                          <a:cs typeface="Times New Roman" panose="02020603050405020304" pitchFamily="18" charset="0"/>
                        </a:rPr>
                        <a:t>RamadhonaSaville</a:t>
                      </a:r>
                      <a:r>
                        <a:rPr lang="en-IN" dirty="0">
                          <a:latin typeface="Times New Roman" panose="02020603050405020304" pitchFamily="18" charset="0"/>
                          <a:cs typeface="Times New Roman" panose="02020603050405020304" pitchFamily="18" charset="0"/>
                        </a:rPr>
                        <a:t>, Atsushi Fujiwara</a:t>
                      </a:r>
                    </a:p>
                  </a:txBody>
                  <a:tcPr/>
                </a:tc>
                <a:tc>
                  <a:txBody>
                    <a:bodyPr/>
                    <a:lstStyle/>
                    <a:p>
                      <a:r>
                        <a:rPr lang="en-IN" dirty="0">
                          <a:latin typeface="Times New Roman" panose="02020603050405020304" pitchFamily="18" charset="0"/>
                          <a:cs typeface="Times New Roman" panose="02020603050405020304" pitchFamily="18" charset="0"/>
                        </a:rPr>
                        <a:t>Random Forest</a:t>
                      </a:r>
                    </a:p>
                  </a:txBody>
                  <a:tcPr/>
                </a:tc>
                <a:tc>
                  <a:txBody>
                    <a:bodyPr/>
                    <a:lstStyle/>
                    <a:p>
                      <a:r>
                        <a:rPr lang="en-IN" dirty="0">
                          <a:latin typeface="Times New Roman" panose="02020603050405020304" pitchFamily="18" charset="0"/>
                          <a:cs typeface="Times New Roman" panose="02020603050405020304" pitchFamily="18" charset="0"/>
                        </a:rPr>
                        <a:t>Predicts level of fish </a:t>
                      </a:r>
                      <a:r>
                        <a:rPr lang="en-IN">
                          <a:latin typeface="Times New Roman" panose="02020603050405020304" pitchFamily="18" charset="0"/>
                          <a:cs typeface="Times New Roman" panose="02020603050405020304" pitchFamily="18" charset="0"/>
                        </a:rPr>
                        <a:t>mortality </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78.6% </a:t>
                      </a:r>
                    </a:p>
                  </a:txBody>
                  <a:tcPr/>
                </a:tc>
                <a:extLst>
                  <a:ext uri="{0D108BD9-81ED-4DB2-BD59-A6C34878D82A}">
                    <a16:rowId xmlns:a16="http://schemas.microsoft.com/office/drawing/2014/main" val="3346311028"/>
                  </a:ext>
                </a:extLst>
              </a:tr>
              <a:tr h="1165363">
                <a:tc>
                  <a:txBody>
                    <a:bodyPr/>
                    <a:lstStyle/>
                    <a:p>
                      <a:r>
                        <a:rPr lang="en-IN" dirty="0">
                          <a:latin typeface="Times New Roman" panose="02020603050405020304" pitchFamily="18" charset="0"/>
                          <a:cs typeface="Times New Roman" panose="02020603050405020304" pitchFamily="18" charset="0"/>
                        </a:rPr>
                        <a:t>Water Quality Prediction Using Machine Learning Models</a:t>
                      </a:r>
                    </a:p>
                  </a:txBody>
                  <a:tcPr/>
                </a:tc>
                <a:tc>
                  <a:txBody>
                    <a:bodyPr/>
                    <a:lstStyle/>
                    <a:p>
                      <a:r>
                        <a:rPr lang="en-US" dirty="0">
                          <a:latin typeface="Times New Roman" panose="02020603050405020304" pitchFamily="18" charset="0"/>
                          <a:cs typeface="Times New Roman" panose="02020603050405020304" pitchFamily="18" charset="0"/>
                        </a:rPr>
                        <a:t>2024</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Astha Sharma</a:t>
                      </a:r>
                    </a:p>
                  </a:txBody>
                  <a:tcPr/>
                </a:tc>
                <a:tc>
                  <a:txBody>
                    <a:bodyPr/>
                    <a:lstStyle/>
                    <a:p>
                      <a:r>
                        <a:rPr lang="en-IN" dirty="0">
                          <a:latin typeface="Times New Roman" panose="02020603050405020304" pitchFamily="18" charset="0"/>
                          <a:cs typeface="Times New Roman" panose="02020603050405020304" pitchFamily="18" charset="0"/>
                        </a:rPr>
                        <a:t>Decision Tree</a:t>
                      </a:r>
                    </a:p>
                  </a:txBody>
                  <a:tcPr/>
                </a:tc>
                <a:tc>
                  <a:txBody>
                    <a:bodyPr/>
                    <a:lstStyle/>
                    <a:p>
                      <a:r>
                        <a:rPr lang="en-IN" b="0" dirty="0">
                          <a:latin typeface="Times New Roman" panose="02020603050405020304" pitchFamily="18" charset="0"/>
                          <a:cs typeface="Times New Roman" panose="02020603050405020304" pitchFamily="18" charset="0"/>
                        </a:rPr>
                        <a:t>Compared multiple Machine Learning models for water quality prediction.</a:t>
                      </a:r>
                    </a:p>
                  </a:txBody>
                  <a:tcPr/>
                </a:tc>
                <a:tc>
                  <a:txBody>
                    <a:bodyPr/>
                    <a:lstStyle/>
                    <a:p>
                      <a:r>
                        <a:rPr lang="en-US" dirty="0">
                          <a:latin typeface="Times New Roman" panose="02020603050405020304" pitchFamily="18" charset="0"/>
                          <a:cs typeface="Times New Roman" panose="02020603050405020304" pitchFamily="18" charset="0"/>
                        </a:rPr>
                        <a:t>58.84%</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25212537"/>
                  </a:ext>
                </a:extLst>
              </a:tr>
            </a:tbl>
          </a:graphicData>
        </a:graphic>
      </p:graphicFrame>
    </p:spTree>
    <p:extLst>
      <p:ext uri="{BB962C8B-B14F-4D97-AF65-F5344CB8AC3E}">
        <p14:creationId xmlns:p14="http://schemas.microsoft.com/office/powerpoint/2010/main" val="2909785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D7FB9-A338-8BB8-5D3A-55BA0466DEDA}"/>
              </a:ext>
            </a:extLst>
          </p:cNvPr>
          <p:cNvSpPr>
            <a:spLocks noGrp="1"/>
          </p:cNvSpPr>
          <p:nvPr>
            <p:ph type="title"/>
          </p:nvPr>
        </p:nvSpPr>
        <p:spPr>
          <a:xfrm>
            <a:off x="1400028" y="448746"/>
            <a:ext cx="10018713" cy="487017"/>
          </a:xfrm>
        </p:spPr>
        <p:txBody>
          <a:bodyPr>
            <a:normAutofit fontScale="90000"/>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10" name="Content Placeholder 9">
            <a:extLst>
              <a:ext uri="{FF2B5EF4-FFF2-40B4-BE49-F238E27FC236}">
                <a16:creationId xmlns:a16="http://schemas.microsoft.com/office/drawing/2014/main" id="{ABEE6F76-7E96-3672-E636-539D7FD54D9E}"/>
              </a:ext>
            </a:extLst>
          </p:cNvPr>
          <p:cNvGraphicFramePr>
            <a:graphicFrameLocks noGrp="1"/>
          </p:cNvGraphicFramePr>
          <p:nvPr>
            <p:ph idx="1"/>
            <p:extLst>
              <p:ext uri="{D42A27DB-BD31-4B8C-83A1-F6EECF244321}">
                <p14:modId xmlns:p14="http://schemas.microsoft.com/office/powerpoint/2010/main" val="398907799"/>
              </p:ext>
            </p:extLst>
          </p:nvPr>
        </p:nvGraphicFramePr>
        <p:xfrm>
          <a:off x="1343610" y="1255838"/>
          <a:ext cx="10636897" cy="4663440"/>
        </p:xfrm>
        <a:graphic>
          <a:graphicData uri="http://schemas.openxmlformats.org/drawingml/2006/table">
            <a:tbl>
              <a:tblPr firstRow="1" bandRow="1">
                <a:tableStyleId>{22838BEF-8BB2-4498-84A7-C5851F593DF1}</a:tableStyleId>
              </a:tblPr>
              <a:tblGrid>
                <a:gridCol w="2276669">
                  <a:extLst>
                    <a:ext uri="{9D8B030D-6E8A-4147-A177-3AD203B41FA5}">
                      <a16:colId xmlns:a16="http://schemas.microsoft.com/office/drawing/2014/main" val="201236325"/>
                    </a:ext>
                  </a:extLst>
                </a:gridCol>
                <a:gridCol w="923731">
                  <a:extLst>
                    <a:ext uri="{9D8B030D-6E8A-4147-A177-3AD203B41FA5}">
                      <a16:colId xmlns:a16="http://schemas.microsoft.com/office/drawing/2014/main" val="3657737908"/>
                    </a:ext>
                  </a:extLst>
                </a:gridCol>
                <a:gridCol w="1399592">
                  <a:extLst>
                    <a:ext uri="{9D8B030D-6E8A-4147-A177-3AD203B41FA5}">
                      <a16:colId xmlns:a16="http://schemas.microsoft.com/office/drawing/2014/main" val="3902130854"/>
                    </a:ext>
                  </a:extLst>
                </a:gridCol>
                <a:gridCol w="2397967">
                  <a:extLst>
                    <a:ext uri="{9D8B030D-6E8A-4147-A177-3AD203B41FA5}">
                      <a16:colId xmlns:a16="http://schemas.microsoft.com/office/drawing/2014/main" val="439102337"/>
                    </a:ext>
                  </a:extLst>
                </a:gridCol>
                <a:gridCol w="2192694">
                  <a:extLst>
                    <a:ext uri="{9D8B030D-6E8A-4147-A177-3AD203B41FA5}">
                      <a16:colId xmlns:a16="http://schemas.microsoft.com/office/drawing/2014/main" val="1225361529"/>
                    </a:ext>
                  </a:extLst>
                </a:gridCol>
                <a:gridCol w="1446244">
                  <a:extLst>
                    <a:ext uri="{9D8B030D-6E8A-4147-A177-3AD203B41FA5}">
                      <a16:colId xmlns:a16="http://schemas.microsoft.com/office/drawing/2014/main" val="2378334914"/>
                    </a:ext>
                  </a:extLst>
                </a:gridCol>
              </a:tblGrid>
              <a:tr h="662006">
                <a:tc>
                  <a:txBody>
                    <a:bodyPr/>
                    <a:lstStyle/>
                    <a:p>
                      <a:r>
                        <a:rPr lang="en-US" sz="2400" dirty="0">
                          <a:latin typeface="Times New Roman" panose="02020603050405020304" pitchFamily="18" charset="0"/>
                          <a:cs typeface="Times New Roman" panose="02020603050405020304" pitchFamily="18" charset="0"/>
                        </a:rPr>
                        <a:t>Paper Title</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Year</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Author</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Methods/Models Used</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Key Contribution</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Accuracy</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83818007"/>
                  </a:ext>
                </a:extLst>
              </a:tr>
              <a:tr h="941792">
                <a:tc>
                  <a:txBody>
                    <a:bodyPr/>
                    <a:lstStyle/>
                    <a:p>
                      <a:r>
                        <a:rPr lang="en-IN" dirty="0">
                          <a:latin typeface="Times New Roman" panose="02020603050405020304" pitchFamily="18" charset="0"/>
                          <a:cs typeface="Times New Roman" panose="02020603050405020304" pitchFamily="18" charset="0"/>
                        </a:rPr>
                        <a:t>Predicting Fish Diseases Using ML Based on Water Quality Parameters [2]</a:t>
                      </a:r>
                    </a:p>
                  </a:txBody>
                  <a:tcPr/>
                </a:tc>
                <a:tc>
                  <a:txBody>
                    <a:bodyPr/>
                    <a:lstStyle/>
                    <a:p>
                      <a:r>
                        <a:rPr lang="en-US" dirty="0">
                          <a:latin typeface="Times New Roman" panose="02020603050405020304" pitchFamily="18" charset="0"/>
                          <a:cs typeface="Times New Roman" panose="02020603050405020304" pitchFamily="18" charset="0"/>
                        </a:rPr>
                        <a:t>2024</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Rajkumar R</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Logistic Regression, SVM</a:t>
                      </a:r>
                    </a:p>
                  </a:txBody>
                  <a:tcPr/>
                </a:tc>
                <a:tc>
                  <a:txBody>
                    <a:bodyPr/>
                    <a:lstStyle/>
                    <a:p>
                      <a:r>
                        <a:rPr lang="en-IN" dirty="0">
                          <a:latin typeface="Times New Roman" panose="02020603050405020304" pitchFamily="18" charset="0"/>
                          <a:cs typeface="Times New Roman" panose="02020603050405020304" pitchFamily="18" charset="0"/>
                        </a:rPr>
                        <a:t>Requires manual monitoring of water quality parameters.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dirty="0">
                          <a:latin typeface="Times New Roman" panose="02020603050405020304" pitchFamily="18" charset="0"/>
                          <a:cs typeface="Times New Roman" panose="02020603050405020304" pitchFamily="18" charset="0"/>
                        </a:rPr>
                        <a:t>82%</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13959485"/>
                  </a:ext>
                </a:extLst>
              </a:tr>
              <a:tr h="941792">
                <a:tc>
                  <a:txBody>
                    <a:bodyPr/>
                    <a:lstStyle/>
                    <a:p>
                      <a:r>
                        <a:rPr lang="en-IN" dirty="0">
                          <a:latin typeface="Times New Roman" panose="02020603050405020304" pitchFamily="18" charset="0"/>
                          <a:cs typeface="Times New Roman" panose="02020603050405020304" pitchFamily="18" charset="0"/>
                        </a:rPr>
                        <a:t>Fish Disease Prediction Using Machine Learning on Water Quality Data</a:t>
                      </a:r>
                    </a:p>
                  </a:txBody>
                  <a:tcPr/>
                </a:tc>
                <a:tc>
                  <a:txBody>
                    <a:bodyPr/>
                    <a:lstStyle/>
                    <a:p>
                      <a:r>
                        <a:rPr lang="en-US" dirty="0">
                          <a:latin typeface="Times New Roman" panose="02020603050405020304" pitchFamily="18" charset="0"/>
                          <a:cs typeface="Times New Roman" panose="02020603050405020304" pitchFamily="18" charset="0"/>
                        </a:rPr>
                        <a:t>2026</a:t>
                      </a:r>
                      <a:endParaRPr lang="en-IN" dirty="0">
                        <a:latin typeface="Times New Roman" panose="02020603050405020304" pitchFamily="18" charset="0"/>
                        <a:cs typeface="Times New Roman" panose="02020603050405020304" pitchFamily="18" charset="0"/>
                      </a:endParaRPr>
                    </a:p>
                  </a:txBody>
                  <a:tcPr/>
                </a:tc>
                <a:tc>
                  <a:txBody>
                    <a:bodyPr/>
                    <a:lstStyle/>
                    <a:p>
                      <a:r>
                        <a:rPr lang="en-IN" b="0" dirty="0">
                          <a:latin typeface="Times New Roman" panose="02020603050405020304" pitchFamily="18" charset="0"/>
                          <a:cs typeface="Times New Roman" panose="02020603050405020304" pitchFamily="18" charset="0"/>
                        </a:rPr>
                        <a:t>Rajat Kumar </a:t>
                      </a:r>
                    </a:p>
                  </a:txBody>
                  <a:tcPr/>
                </a:tc>
                <a:tc>
                  <a:txBody>
                    <a:bodyPr/>
                    <a:lstStyle/>
                    <a:p>
                      <a:r>
                        <a:rPr lang="en-US" dirty="0">
                          <a:latin typeface="Times New Roman" panose="02020603050405020304" pitchFamily="18" charset="0"/>
                          <a:cs typeface="Times New Roman" panose="02020603050405020304" pitchFamily="18" charset="0"/>
                        </a:rPr>
                        <a:t>Random forest Classifier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Used Random Forest Classifier for detect easily</a:t>
                      </a:r>
                      <a:endParaRPr lang="en-IN" dirty="0">
                        <a:latin typeface="Times New Roman" panose="02020603050405020304" pitchFamily="18" charset="0"/>
                        <a:cs typeface="Times New Roman" panose="02020603050405020304" pitchFamily="18" charset="0"/>
                      </a:endParaRPr>
                    </a:p>
                  </a:txBody>
                  <a:tcPr/>
                </a:tc>
                <a:tc>
                  <a:txBody>
                    <a:bodyPr/>
                    <a:lstStyle/>
                    <a:p>
                      <a:r>
                        <a:rPr lang="en-US" b="0">
                          <a:latin typeface="Times New Roman" panose="02020603050405020304" pitchFamily="18" charset="0"/>
                          <a:cs typeface="Times New Roman" panose="02020603050405020304" pitchFamily="18" charset="0"/>
                        </a:rPr>
                        <a:t>89.25%</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03792802"/>
                  </a:ext>
                </a:extLst>
              </a:tr>
              <a:tr h="941792">
                <a:tc>
                  <a:txBody>
                    <a:bodyPr/>
                    <a:lstStyle/>
                    <a:p>
                      <a:r>
                        <a:rPr lang="en-IN" dirty="0">
                          <a:latin typeface="Times New Roman" panose="02020603050405020304" pitchFamily="18" charset="0"/>
                          <a:cs typeface="Times New Roman" panose="02020603050405020304" pitchFamily="18" charset="0"/>
                        </a:rPr>
                        <a:t>Predicting Aquaculture Water Quality Using Machine Learning Approaches[3]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2024</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Tingting Li et al.</a:t>
                      </a:r>
                    </a:p>
                  </a:txBody>
                  <a:tcPr/>
                </a:tc>
                <a:tc>
                  <a:txBody>
                    <a:bodyPr/>
                    <a:lstStyle/>
                    <a:p>
                      <a:r>
                        <a:rPr lang="en-IN" dirty="0">
                          <a:latin typeface="Times New Roman" panose="02020603050405020304" pitchFamily="18" charset="0"/>
                          <a:cs typeface="Times New Roman" panose="02020603050405020304" pitchFamily="18" charset="0"/>
                        </a:rPr>
                        <a:t>SVM, LSSVM</a:t>
                      </a:r>
                    </a:p>
                  </a:txBody>
                  <a:tcPr/>
                </a:tc>
                <a:tc>
                  <a:txBody>
                    <a:bodyPr/>
                    <a:lstStyle/>
                    <a:p>
                      <a:r>
                        <a:rPr lang="en-IN" dirty="0">
                          <a:latin typeface="Times New Roman" panose="02020603050405020304" pitchFamily="18" charset="0"/>
                          <a:cs typeface="Times New Roman" panose="02020603050405020304" pitchFamily="18" charset="0"/>
                        </a:rPr>
                        <a:t>Improved water quality prediction using SVM.</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dirty="0">
                          <a:latin typeface="Times New Roman" panose="02020603050405020304" pitchFamily="18" charset="0"/>
                          <a:cs typeface="Times New Roman" panose="02020603050405020304" pitchFamily="18" charset="0"/>
                        </a:rPr>
                        <a:t>89%</a:t>
                      </a:r>
                      <a:endParaRPr lang="en-IN"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2749135"/>
                  </a:ext>
                </a:extLst>
              </a:tr>
            </a:tbl>
          </a:graphicData>
        </a:graphic>
      </p:graphicFrame>
    </p:spTree>
    <p:extLst>
      <p:ext uri="{BB962C8B-B14F-4D97-AF65-F5344CB8AC3E}">
        <p14:creationId xmlns:p14="http://schemas.microsoft.com/office/powerpoint/2010/main" val="3024225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CA479-7D6E-29BB-50AD-F9E1F86D5395}"/>
              </a:ext>
            </a:extLst>
          </p:cNvPr>
          <p:cNvSpPr>
            <a:spLocks noGrp="1"/>
          </p:cNvSpPr>
          <p:nvPr>
            <p:ph type="title"/>
          </p:nvPr>
        </p:nvSpPr>
        <p:spPr>
          <a:xfrm>
            <a:off x="1484310" y="-285361"/>
            <a:ext cx="10018713" cy="1752599"/>
          </a:xfrm>
        </p:spPr>
        <p:txBody>
          <a:bodyPr/>
          <a:lstStyle/>
          <a:p>
            <a:pPr algn="l"/>
            <a:r>
              <a:rPr lang="en-IN"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58D9E050-2737-C7C9-C2BA-91F56A703FCA}"/>
              </a:ext>
            </a:extLst>
          </p:cNvPr>
          <p:cNvSpPr>
            <a:spLocks noGrp="1"/>
          </p:cNvSpPr>
          <p:nvPr>
            <p:ph idx="1"/>
          </p:nvPr>
        </p:nvSpPr>
        <p:spPr>
          <a:xfrm>
            <a:off x="1343026" y="180975"/>
            <a:ext cx="10159997" cy="6210299"/>
          </a:xfrm>
        </p:spPr>
        <p:txBody>
          <a:bodyPr>
            <a:noAutofit/>
          </a:bodyPr>
          <a:lstStyle/>
          <a:p>
            <a:pPr algn="just">
              <a:lnSpc>
                <a:spcPct val="170000"/>
              </a:lnSpc>
            </a:pPr>
            <a:endParaRPr lang="en-IN" sz="1600" dirty="0">
              <a:latin typeface="Times New Roman" panose="02020603050405020304" pitchFamily="18" charset="0"/>
              <a:cs typeface="Times New Roman" panose="02020603050405020304" pitchFamily="18" charset="0"/>
            </a:endParaRPr>
          </a:p>
          <a:p>
            <a:pPr algn="just">
              <a:lnSpc>
                <a:spcPct val="170000"/>
              </a:lnSpc>
            </a:pPr>
            <a:r>
              <a:rPr lang="en-IN" sz="1600" b="1" dirty="0">
                <a:latin typeface="Times New Roman" panose="02020603050405020304" pitchFamily="18" charset="0"/>
                <a:cs typeface="Times New Roman" panose="02020603050405020304" pitchFamily="18" charset="0"/>
              </a:rPr>
              <a:t>Rajkumar R., Vishnu Sai </a:t>
            </a:r>
            <a:r>
              <a:rPr lang="en-IN" sz="1600" b="1" dirty="0" err="1">
                <a:latin typeface="Times New Roman" panose="02020603050405020304" pitchFamily="18" charset="0"/>
                <a:cs typeface="Times New Roman" panose="02020603050405020304" pitchFamily="18" charset="0"/>
              </a:rPr>
              <a:t>Nallagatla</a:t>
            </a:r>
            <a:r>
              <a:rPr lang="en-IN" sz="1600" b="1" dirty="0">
                <a:latin typeface="Times New Roman" panose="02020603050405020304" pitchFamily="18" charset="0"/>
                <a:cs typeface="Times New Roman" panose="02020603050405020304" pitchFamily="18" charset="0"/>
              </a:rPr>
              <a:t>, Rahul S. G., Lokesh Akula, Saketh Reddy </a:t>
            </a:r>
            <a:r>
              <a:rPr lang="en-IN" sz="1600" b="1" dirty="0" err="1">
                <a:latin typeface="Times New Roman" panose="02020603050405020304" pitchFamily="18" charset="0"/>
                <a:cs typeface="Times New Roman" panose="02020603050405020304" pitchFamily="18" charset="0"/>
              </a:rPr>
              <a:t>Balpunuri</a:t>
            </a:r>
            <a:r>
              <a:rPr lang="en-IN" sz="1600" b="1" dirty="0">
                <a:latin typeface="Times New Roman" panose="02020603050405020304" pitchFamily="18" charset="0"/>
                <a:cs typeface="Times New Roman" panose="02020603050405020304" pitchFamily="18" charset="0"/>
              </a:rPr>
              <a:t>, and Nandhini,</a:t>
            </a:r>
            <a:r>
              <a:rPr lang="en-IN" sz="1600" dirty="0">
                <a:latin typeface="Times New Roman" panose="02020603050405020304" pitchFamily="18" charset="0"/>
                <a:cs typeface="Times New Roman" panose="02020603050405020304" pitchFamily="18" charset="0"/>
              </a:rPr>
              <a:t> "Predicting Fish Diseases Using Machine Learning Based on Water Quality Parameters," </a:t>
            </a:r>
            <a:r>
              <a:rPr lang="en-IN" sz="1600" i="1" dirty="0">
                <a:latin typeface="Times New Roman" panose="02020603050405020304" pitchFamily="18" charset="0"/>
                <a:cs typeface="Times New Roman" panose="02020603050405020304" pitchFamily="18" charset="0"/>
              </a:rPr>
              <a:t>2024 15th International Conference on Computing, Communication and Networking Technologies (ICCCNT)</a:t>
            </a:r>
            <a:r>
              <a:rPr lang="en-IN" sz="1600" dirty="0">
                <a:latin typeface="Times New Roman" panose="02020603050405020304" pitchFamily="18" charset="0"/>
                <a:cs typeface="Times New Roman" panose="02020603050405020304" pitchFamily="18" charset="0"/>
              </a:rPr>
              <a:t>, IEEE, 2024, </a:t>
            </a:r>
            <a:r>
              <a:rPr lang="en-IN" sz="1600" dirty="0" err="1">
                <a:latin typeface="Times New Roman" panose="02020603050405020304" pitchFamily="18" charset="0"/>
                <a:cs typeface="Times New Roman" panose="02020603050405020304" pitchFamily="18" charset="0"/>
              </a:rPr>
              <a:t>doi</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10.1109/ICCCNT61001.2024.10725573</a:t>
            </a:r>
            <a:r>
              <a:rPr lang="en-IN" sz="1600" dirty="0">
                <a:latin typeface="Times New Roman" panose="02020603050405020304" pitchFamily="18" charset="0"/>
                <a:cs typeface="Times New Roman" panose="02020603050405020304" pitchFamily="18" charset="0"/>
              </a:rPr>
              <a:t>. </a:t>
            </a:r>
            <a:endParaRPr lang="en-IN" sz="1600" b="1" dirty="0">
              <a:latin typeface="Times New Roman" panose="02020603050405020304" pitchFamily="18" charset="0"/>
              <a:cs typeface="Times New Roman" panose="02020603050405020304" pitchFamily="18" charset="0"/>
            </a:endParaRPr>
          </a:p>
          <a:p>
            <a:pPr algn="just">
              <a:lnSpc>
                <a:spcPct val="170000"/>
              </a:lnSpc>
            </a:pPr>
            <a:r>
              <a:rPr lang="en-IN" sz="1600" b="1" dirty="0">
                <a:latin typeface="Times New Roman" panose="02020603050405020304" pitchFamily="18" charset="0"/>
                <a:cs typeface="Times New Roman" panose="02020603050405020304" pitchFamily="18" charset="0"/>
              </a:rPr>
              <a:t>Dr. T. Sravan Kumar, K. </a:t>
            </a:r>
            <a:r>
              <a:rPr lang="en-IN" sz="1600" b="1" dirty="0" err="1">
                <a:latin typeface="Times New Roman" panose="02020603050405020304" pitchFamily="18" charset="0"/>
                <a:cs typeface="Times New Roman" panose="02020603050405020304" pitchFamily="18" charset="0"/>
              </a:rPr>
              <a:t>Nandulal</a:t>
            </a:r>
            <a:r>
              <a:rPr lang="en-IN" sz="1600" b="1" dirty="0">
                <a:latin typeface="Times New Roman" panose="02020603050405020304" pitchFamily="18" charset="0"/>
                <a:cs typeface="Times New Roman" panose="02020603050405020304" pitchFamily="18" charset="0"/>
              </a:rPr>
              <a:t>, and M. Varalaxmi,</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"Machine Learning-Based Early Detection of Fish Diseases Through Water Quality Monitoring,"</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Journal of Nonlinear Analysis and Optimization (JNAO), 2023.</a:t>
            </a:r>
            <a:r>
              <a:rPr lang="en-IN" sz="1600" dirty="0">
                <a:latin typeface="Times New Roman" panose="02020603050405020304" pitchFamily="18" charset="0"/>
                <a:cs typeface="Times New Roman" panose="02020603050405020304" pitchFamily="18" charset="0"/>
              </a:rPr>
              <a:t> </a:t>
            </a:r>
          </a:p>
          <a:p>
            <a:pPr algn="just">
              <a:lnSpc>
                <a:spcPct val="170000"/>
              </a:lnSpc>
            </a:pPr>
            <a:r>
              <a:rPr lang="en-IN" sz="1600" dirty="0">
                <a:latin typeface="Times New Roman" panose="02020603050405020304" pitchFamily="18" charset="0"/>
                <a:cs typeface="Times New Roman" panose="02020603050405020304" pitchFamily="18" charset="0"/>
              </a:rPr>
              <a:t>Md. Shoaib Ahmed, T. T. </a:t>
            </a:r>
            <a:r>
              <a:rPr lang="en-IN" sz="1600" dirty="0" err="1">
                <a:latin typeface="Times New Roman" panose="02020603050405020304" pitchFamily="18" charset="0"/>
                <a:cs typeface="Times New Roman" panose="02020603050405020304" pitchFamily="18" charset="0"/>
              </a:rPr>
              <a:t>Aurpa</a:t>
            </a:r>
            <a:r>
              <a:rPr lang="en-IN" sz="1600" dirty="0">
                <a:latin typeface="Times New Roman" panose="02020603050405020304" pitchFamily="18" charset="0"/>
                <a:cs typeface="Times New Roman" panose="02020603050405020304" pitchFamily="18" charset="0"/>
              </a:rPr>
              <a:t>, and Md. A. K. Azad, </a:t>
            </a:r>
            <a:r>
              <a:rPr lang="en-IN" sz="1600" b="1" dirty="0">
                <a:latin typeface="Times New Roman" panose="02020603050405020304" pitchFamily="18" charset="0"/>
                <a:cs typeface="Times New Roman" panose="02020603050405020304" pitchFamily="18" charset="0"/>
              </a:rPr>
              <a:t>"Fish Disease Detection Using Image Based Machine Learning Technique in Aquaculture,"</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Journal of King Saud University – Computer and Information Sciences</a:t>
            </a:r>
            <a:r>
              <a:rPr lang="en-IN" sz="1600" dirty="0">
                <a:latin typeface="Times New Roman" panose="02020603050405020304" pitchFamily="18" charset="0"/>
                <a:cs typeface="Times New Roman" panose="02020603050405020304" pitchFamily="18" charset="0"/>
              </a:rPr>
              <a:t>, vol. 34, no. 8, pp. 5170–5182, 2022. DOI: </a:t>
            </a:r>
            <a:r>
              <a:rPr lang="en-IN" sz="1600" b="1" dirty="0">
                <a:latin typeface="Times New Roman" panose="02020603050405020304" pitchFamily="18" charset="0"/>
                <a:cs typeface="Times New Roman" panose="02020603050405020304" pitchFamily="18" charset="0"/>
              </a:rPr>
              <a:t>10.1016/j.jksuci.2021.05.003</a:t>
            </a:r>
            <a:r>
              <a:rPr lang="en-IN" sz="1600" dirty="0">
                <a:latin typeface="Times New Roman" panose="02020603050405020304" pitchFamily="18" charset="0"/>
                <a:cs typeface="Times New Roman" panose="02020603050405020304" pitchFamily="18" charset="0"/>
              </a:rPr>
              <a:t>.</a:t>
            </a:r>
          </a:p>
          <a:p>
            <a:pPr algn="just">
              <a:lnSpc>
                <a:spcPct val="170000"/>
              </a:lnSpc>
            </a:pPr>
            <a:r>
              <a:rPr lang="en-IN" sz="1600" dirty="0">
                <a:latin typeface="Times New Roman" panose="02020603050405020304" pitchFamily="18" charset="0"/>
                <a:cs typeface="Times New Roman" panose="02020603050405020304" pitchFamily="18" charset="0"/>
              </a:rPr>
              <a:t>Saville, R., Fujiwara, A., Hatanaka, K., Wada, M., Yaman, A., Puspasari, R., </a:t>
            </a:r>
            <a:r>
              <a:rPr lang="en-IN" sz="1600" dirty="0" err="1">
                <a:latin typeface="Times New Roman" panose="02020603050405020304" pitchFamily="18" charset="0"/>
                <a:cs typeface="Times New Roman" panose="02020603050405020304" pitchFamily="18" charset="0"/>
              </a:rPr>
              <a:t>Albasri</a:t>
            </a:r>
            <a:r>
              <a:rPr lang="en-IN" sz="1600" dirty="0">
                <a:latin typeface="Times New Roman" panose="02020603050405020304" pitchFamily="18" charset="0"/>
                <a:cs typeface="Times New Roman" panose="02020603050405020304" pitchFamily="18" charset="0"/>
              </a:rPr>
              <a:t>, H., &amp; </a:t>
            </a:r>
            <a:r>
              <a:rPr lang="en-IN" sz="1600" dirty="0" err="1">
                <a:latin typeface="Times New Roman" panose="02020603050405020304" pitchFamily="18" charset="0"/>
                <a:cs typeface="Times New Roman" panose="02020603050405020304" pitchFamily="18" charset="0"/>
              </a:rPr>
              <a:t>Dwiyoga</a:t>
            </a:r>
            <a:r>
              <a:rPr lang="en-IN" sz="1600" dirty="0">
                <a:latin typeface="Times New Roman" panose="02020603050405020304" pitchFamily="18" charset="0"/>
                <a:cs typeface="Times New Roman" panose="02020603050405020304" pitchFamily="18" charset="0"/>
              </a:rPr>
              <a:t>, N. (2026). </a:t>
            </a:r>
            <a:r>
              <a:rPr lang="en-IN" sz="1600" i="1" dirty="0">
                <a:latin typeface="Times New Roman" panose="02020603050405020304" pitchFamily="18" charset="0"/>
                <a:cs typeface="Times New Roman" panose="02020603050405020304" pitchFamily="18" charset="0"/>
              </a:rPr>
              <a:t>AI-powered decision support system for mariculture: Real-time fish mortality prediction with random forest</a:t>
            </a:r>
            <a:r>
              <a:rPr lang="en-IN" sz="1600" dirty="0">
                <a:latin typeface="Times New Roman" panose="02020603050405020304" pitchFamily="18" charset="0"/>
                <a:cs typeface="Times New Roman" panose="02020603050405020304" pitchFamily="18" charset="0"/>
              </a:rPr>
              <a:t>. Aquacultural Engineering, 112, 102621.</a:t>
            </a:r>
          </a:p>
        </p:txBody>
      </p:sp>
    </p:spTree>
    <p:extLst>
      <p:ext uri="{BB962C8B-B14F-4D97-AF65-F5344CB8AC3E}">
        <p14:creationId xmlns:p14="http://schemas.microsoft.com/office/powerpoint/2010/main" val="3794785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9B2C24-F29B-19AF-4EE8-1D406CFBB015}"/>
              </a:ext>
            </a:extLst>
          </p:cNvPr>
          <p:cNvSpPr txBox="1"/>
          <p:nvPr/>
        </p:nvSpPr>
        <p:spPr>
          <a:xfrm>
            <a:off x="3011557" y="2703443"/>
            <a:ext cx="7414591" cy="1107996"/>
          </a:xfrm>
          <a:prstGeom prst="rect">
            <a:avLst/>
          </a:prstGeom>
          <a:noFill/>
        </p:spPr>
        <p:txBody>
          <a:bodyPr wrap="square" rtlCol="0">
            <a:spAutoFit/>
          </a:bodyPr>
          <a:lstStyle/>
          <a:p>
            <a:pPr algn="ctr"/>
            <a:r>
              <a:rPr lang="en-IN" sz="66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4963588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942</TotalTime>
  <Words>862</Words>
  <Application>Microsoft Office PowerPoint</Application>
  <PresentationFormat>Widescreen</PresentationFormat>
  <Paragraphs>97</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Parallax</vt:lpstr>
      <vt:lpstr>Machine Learning-Based Early Prediction of Fish Diseases Through Water Quality Analysis</vt:lpstr>
      <vt:lpstr>Outline</vt:lpstr>
      <vt:lpstr>ABSTRACT</vt:lpstr>
      <vt:lpstr>EXISTING SYSTEM</vt:lpstr>
      <vt:lpstr> PROPOSED SYSTEM</vt:lpstr>
      <vt:lpstr>System Design</vt:lpstr>
      <vt:lpstr>Implementation</vt:lpstr>
      <vt:lpstr>LITERATURE SURVEY</vt:lpstr>
      <vt:lpstr>LITERATURE SURVEY</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Indhu Perumalla</dc:creator>
  <cp:lastModifiedBy>Narasimharao Kosanam</cp:lastModifiedBy>
  <cp:revision>41</cp:revision>
  <dcterms:created xsi:type="dcterms:W3CDTF">2025-12-20T15:44:50Z</dcterms:created>
  <dcterms:modified xsi:type="dcterms:W3CDTF">2026-09-27T07:07:20Z</dcterms:modified>
</cp:coreProperties>
</file>