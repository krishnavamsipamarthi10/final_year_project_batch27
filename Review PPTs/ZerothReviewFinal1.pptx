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1" r:id="rId4"/>
    <p:sldId id="258" r:id="rId5"/>
    <p:sldId id="259" r:id="rId6"/>
    <p:sldId id="260" r:id="rId7"/>
    <p:sldId id="261" r:id="rId8"/>
    <p:sldId id="262" r:id="rId9"/>
    <p:sldId id="263" r:id="rId10"/>
    <p:sldId id="265" r:id="rId11"/>
    <p:sldId id="270" r:id="rId12"/>
    <p:sldId id="266" r:id="rId13"/>
    <p:sldId id="269" r:id="rId14"/>
    <p:sldId id="272"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80" d="100"/>
          <a:sy n="80" d="100"/>
        </p:scale>
        <p:origin x="72"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dhu Perumalla" userId="b9e4eb48c46e338c" providerId="LiveId" clId="{7A0B2870-07F7-4161-9031-F9E21B07FB8A}"/>
    <pc:docChg chg="modSld">
      <pc:chgData name="Indhu Perumalla" userId="b9e4eb48c46e338c" providerId="LiveId" clId="{7A0B2870-07F7-4161-9031-F9E21B07FB8A}" dt="2026-08-21T17:29:59.884" v="14" actId="20577"/>
      <pc:docMkLst>
        <pc:docMk/>
      </pc:docMkLst>
      <pc:sldChg chg="modSp mod">
        <pc:chgData name="Indhu Perumalla" userId="b9e4eb48c46e338c" providerId="LiveId" clId="{7A0B2870-07F7-4161-9031-F9E21B07FB8A}" dt="2026-08-21T17:29:59.884" v="14" actId="20577"/>
        <pc:sldMkLst>
          <pc:docMk/>
          <pc:sldMk cId="3024225893" sldId="261"/>
        </pc:sldMkLst>
        <pc:graphicFrameChg chg="modGraphic">
          <ac:chgData name="Indhu Perumalla" userId="b9e4eb48c46e338c" providerId="LiveId" clId="{7A0B2870-07F7-4161-9031-F9E21B07FB8A}" dt="2026-08-21T17:29:59.884" v="14" actId="20577"/>
          <ac:graphicFrameMkLst>
            <pc:docMk/>
            <pc:sldMk cId="3024225893" sldId="261"/>
            <ac:graphicFrameMk id="10" creationId="{ABEE6F76-7E96-3672-E636-539D7FD54D9E}"/>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IN"/>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IN"/>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IN"/>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IN"/>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IN"/>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IN"/>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ACBB83-EDC2-4F2A-8DA5-0A899D357E9A}" type="datetimeFigureOut">
              <a:rPr lang="en-IN" smtClean="0"/>
              <a:t>21-08-2026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176372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ACBB83-EDC2-4F2A-8DA5-0A899D357E9A}"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3661259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ACBB83-EDC2-4F2A-8DA5-0A899D357E9A}"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15740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ACBB83-EDC2-4F2A-8DA5-0A899D357E9A}"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238164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ACBB83-EDC2-4F2A-8DA5-0A899D357E9A}" type="datetimeFigureOut">
              <a:rPr lang="en-IN" smtClean="0"/>
              <a:t>21-08-2026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2689703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ACBB83-EDC2-4F2A-8DA5-0A899D357E9A}" type="datetimeFigureOut">
              <a:rPr lang="en-IN" smtClean="0"/>
              <a:t>21-08-2026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1541428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ACBB83-EDC2-4F2A-8DA5-0A899D357E9A}" type="datetimeFigureOut">
              <a:rPr lang="en-IN" smtClean="0"/>
              <a:t>21-08-2026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651439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ACBB83-EDC2-4F2A-8DA5-0A899D357E9A}"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3658507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ACBB83-EDC2-4F2A-8DA5-0A899D357E9A}"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2638375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ACBB83-EDC2-4F2A-8DA5-0A899D357E9A}"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2902617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ACBB83-EDC2-4F2A-8DA5-0A899D357E9A}"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3693473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ACBB83-EDC2-4F2A-8DA5-0A899D357E9A}"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1884135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ACBB83-EDC2-4F2A-8DA5-0A899D357E9A}"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5652578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ACBB83-EDC2-4F2A-8DA5-0A899D357E9A}"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2042548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ACBB83-EDC2-4F2A-8DA5-0A899D357E9A}"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1634706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ACBB83-EDC2-4F2A-8DA5-0A899D357E9A}"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2018753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ACBB83-EDC2-4F2A-8DA5-0A899D357E9A}"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1194995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IN"/>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IN"/>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IN"/>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IN"/>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IN"/>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IN"/>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CACBB83-EDC2-4F2A-8DA5-0A899D357E9A}" type="datetimeFigureOut">
              <a:rPr lang="en-IN" smtClean="0"/>
              <a:t>21-08-2026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CC0CB01-27E7-480B-87DE-026311DB3B14}" type="slidenum">
              <a:rPr lang="en-IN" smtClean="0"/>
              <a:t>‹#›</a:t>
            </a:fld>
            <a:endParaRPr lang="en-IN"/>
          </a:p>
        </p:txBody>
      </p:sp>
    </p:spTree>
    <p:extLst>
      <p:ext uri="{BB962C8B-B14F-4D97-AF65-F5344CB8AC3E}">
        <p14:creationId xmlns:p14="http://schemas.microsoft.com/office/powerpoint/2010/main" val="12449245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37DCA-434F-5FAC-5F30-F31C9D491AD5}"/>
              </a:ext>
            </a:extLst>
          </p:cNvPr>
          <p:cNvSpPr>
            <a:spLocks noGrp="1"/>
          </p:cNvSpPr>
          <p:nvPr>
            <p:ph type="ctrTitle"/>
          </p:nvPr>
        </p:nvSpPr>
        <p:spPr>
          <a:xfrm>
            <a:off x="1759951" y="688186"/>
            <a:ext cx="10329407" cy="2285263"/>
          </a:xfrm>
        </p:spPr>
        <p:txBody>
          <a:bodyPr>
            <a:normAutofit/>
          </a:bodyPr>
          <a:lstStyle/>
          <a:p>
            <a:pPr algn="just"/>
            <a:r>
              <a:rPr lang="en-US" sz="4700" dirty="0">
                <a:latin typeface="Times New Roman" panose="02020603050405020304" pitchFamily="18" charset="0"/>
                <a:cs typeface="Times New Roman" panose="02020603050405020304" pitchFamily="18" charset="0"/>
              </a:rPr>
              <a:t>Machine Learning-Based Early Prediction of Fish Diseases Through Water Quality Analysis</a:t>
            </a:r>
            <a:endParaRPr lang="en-IN" sz="47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3F070B1-DB5C-573E-6C93-8603D218C4E9}"/>
              </a:ext>
            </a:extLst>
          </p:cNvPr>
          <p:cNvSpPr>
            <a:spLocks noGrp="1"/>
          </p:cNvSpPr>
          <p:nvPr>
            <p:ph type="subTitle" idx="1"/>
          </p:nvPr>
        </p:nvSpPr>
        <p:spPr>
          <a:xfrm>
            <a:off x="6239152" y="4564785"/>
            <a:ext cx="5757776" cy="1669037"/>
          </a:xfrm>
        </p:spPr>
        <p:txBody>
          <a:bodyPr>
            <a:noAutofit/>
          </a:bodyPr>
          <a:lstStyle/>
          <a:p>
            <a:pPr algn="just"/>
            <a:r>
              <a:rPr lang="en-IN" sz="2400" b="1" dirty="0">
                <a:latin typeface="Times New Roman" panose="02020603050405020304" pitchFamily="18" charset="0"/>
                <a:cs typeface="Times New Roman" panose="02020603050405020304" pitchFamily="18" charset="0"/>
              </a:rPr>
              <a:t>               Presenting by batch 27:</a:t>
            </a:r>
          </a:p>
          <a:p>
            <a:pPr algn="just"/>
            <a:r>
              <a:rPr lang="en-IN" sz="2400" dirty="0">
                <a:latin typeface="Times New Roman" panose="02020603050405020304" pitchFamily="18" charset="0"/>
                <a:cs typeface="Times New Roman" panose="02020603050405020304" pitchFamily="18" charset="0"/>
              </a:rPr>
              <a:t>               23761A12B3 - P. Varalakshmi</a:t>
            </a:r>
          </a:p>
          <a:p>
            <a:pPr algn="just"/>
            <a:r>
              <a:rPr lang="en-IN" sz="2400" dirty="0">
                <a:latin typeface="Times New Roman" panose="02020603050405020304" pitchFamily="18" charset="0"/>
                <a:cs typeface="Times New Roman" panose="02020603050405020304" pitchFamily="18" charset="0"/>
              </a:rPr>
              <a:t>               23761A12B0 - P. Krishna Vamsi</a:t>
            </a:r>
          </a:p>
          <a:p>
            <a:pPr algn="just"/>
            <a:r>
              <a:rPr lang="en-IN" sz="2400" dirty="0">
                <a:latin typeface="Times New Roman" panose="02020603050405020304" pitchFamily="18" charset="0"/>
                <a:cs typeface="Times New Roman" panose="02020603050405020304" pitchFamily="18" charset="0"/>
              </a:rPr>
              <a:t>               23761A1296 - K. Narasimha Rao</a:t>
            </a:r>
          </a:p>
          <a:p>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8A59BEF-850A-FC05-A00C-C6B087BD9F08}"/>
              </a:ext>
            </a:extLst>
          </p:cNvPr>
          <p:cNvSpPr txBox="1"/>
          <p:nvPr/>
        </p:nvSpPr>
        <p:spPr>
          <a:xfrm>
            <a:off x="2403124" y="3522427"/>
            <a:ext cx="4750904" cy="1477328"/>
          </a:xfrm>
          <a:prstGeom prst="rect">
            <a:avLst/>
          </a:prstGeom>
          <a:noFill/>
        </p:spPr>
        <p:txBody>
          <a:bodyPr wrap="square" rtlCol="0">
            <a:spAutoFit/>
          </a:bodyPr>
          <a:lstStyle/>
          <a:p>
            <a:pPr algn="just"/>
            <a:r>
              <a:rPr lang="en-IN" sz="2400" dirty="0">
                <a:latin typeface="Times New Roman" panose="02020603050405020304" pitchFamily="18" charset="0"/>
                <a:cs typeface="Times New Roman" panose="02020603050405020304" pitchFamily="18" charset="0"/>
              </a:rPr>
              <a:t>          Under the Guidance of </a:t>
            </a: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Dr.Bhanu</a:t>
            </a:r>
            <a:r>
              <a:rPr lang="en-IN" sz="2400" dirty="0">
                <a:latin typeface="Times New Roman" panose="02020603050405020304" pitchFamily="18" charset="0"/>
                <a:cs typeface="Times New Roman" panose="02020603050405020304" pitchFamily="18" charset="0"/>
              </a:rPr>
              <a:t> Pratap Reddy B</a:t>
            </a:r>
          </a:p>
          <a:p>
            <a:pPr algn="just"/>
            <a:r>
              <a:rPr lang="en-IN" sz="2400" dirty="0">
                <a:latin typeface="Times New Roman" panose="02020603050405020304" pitchFamily="18" charset="0"/>
                <a:cs typeface="Times New Roman" panose="02020603050405020304" pitchFamily="18" charset="0"/>
              </a:rPr>
              <a:t>          Associate Professor</a:t>
            </a:r>
          </a:p>
          <a:p>
            <a:endParaRPr lang="en-IN" dirty="0"/>
          </a:p>
        </p:txBody>
      </p:sp>
    </p:spTree>
    <p:extLst>
      <p:ext uri="{BB962C8B-B14F-4D97-AF65-F5344CB8AC3E}">
        <p14:creationId xmlns:p14="http://schemas.microsoft.com/office/powerpoint/2010/main" val="3609458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6F9DD-3B0C-17C1-7B7C-8BAB22982AB3}"/>
              </a:ext>
            </a:extLst>
          </p:cNvPr>
          <p:cNvSpPr>
            <a:spLocks noGrp="1"/>
          </p:cNvSpPr>
          <p:nvPr>
            <p:ph type="title"/>
          </p:nvPr>
        </p:nvSpPr>
        <p:spPr>
          <a:xfrm>
            <a:off x="1808923" y="367749"/>
            <a:ext cx="9694101" cy="1302026"/>
          </a:xfrm>
        </p:spPr>
        <p:txBody>
          <a:bodyPr/>
          <a:lstStyle/>
          <a:p>
            <a:pPr algn="l"/>
            <a:r>
              <a:rPr lang="en-US" dirty="0">
                <a:latin typeface="Times New Roman" panose="02020603050405020304" pitchFamily="18" charset="0"/>
                <a:cs typeface="Times New Roman" panose="02020603050405020304" pitchFamily="18" charset="0"/>
              </a:rPr>
              <a:t>D</a:t>
            </a:r>
            <a:r>
              <a:rPr lang="en-IN" dirty="0" err="1">
                <a:latin typeface="Times New Roman" panose="02020603050405020304" pitchFamily="18" charset="0"/>
                <a:cs typeface="Times New Roman" panose="02020603050405020304" pitchFamily="18" charset="0"/>
              </a:rPr>
              <a:t>omains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2AD86E-A6A5-CF63-4374-88B18705BAD1}"/>
              </a:ext>
            </a:extLst>
          </p:cNvPr>
          <p:cNvSpPr>
            <a:spLocks noGrp="1"/>
          </p:cNvSpPr>
          <p:nvPr>
            <p:ph idx="1"/>
          </p:nvPr>
        </p:nvSpPr>
        <p:spPr>
          <a:xfrm>
            <a:off x="1617179" y="1250675"/>
            <a:ext cx="9266720" cy="4641574"/>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Primary Domain:</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Intelligent Aquatic Disease Prediction</a:t>
            </a:r>
          </a:p>
          <a:p>
            <a:pPr marL="0" indent="0">
              <a:buNone/>
            </a:pPr>
            <a:r>
              <a:rPr lang="en-IN" sz="2800" b="1" dirty="0">
                <a:latin typeface="Times New Roman" panose="02020603050405020304" pitchFamily="18" charset="0"/>
                <a:cs typeface="Times New Roman" panose="02020603050405020304" pitchFamily="18" charset="0"/>
              </a:rPr>
              <a:t>Supporting Domains: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Machine Learning</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Water Quality Analysis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Analytics &amp; Visualization</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Explainable AI </a:t>
            </a:r>
          </a:p>
        </p:txBody>
      </p:sp>
    </p:spTree>
    <p:extLst>
      <p:ext uri="{BB962C8B-B14F-4D97-AF65-F5344CB8AC3E}">
        <p14:creationId xmlns:p14="http://schemas.microsoft.com/office/powerpoint/2010/main" val="4037543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4467D-8AFB-ECEB-2265-6291C225F7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17BF5-C1AE-0B38-91C8-7F77124D9830}"/>
              </a:ext>
            </a:extLst>
          </p:cNvPr>
          <p:cNvSpPr>
            <a:spLocks noGrp="1"/>
          </p:cNvSpPr>
          <p:nvPr>
            <p:ph type="title"/>
          </p:nvPr>
        </p:nvSpPr>
        <p:spPr>
          <a:xfrm>
            <a:off x="1808923" y="367749"/>
            <a:ext cx="9694101" cy="1302026"/>
          </a:xfrm>
        </p:spPr>
        <p:txBody>
          <a:bodyPr/>
          <a:lstStyle/>
          <a:p>
            <a:pPr algn="l"/>
            <a:r>
              <a:rPr lang="en-IN" dirty="0">
                <a:latin typeface="Times New Roman" panose="02020603050405020304" pitchFamily="18" charset="0"/>
                <a:cs typeface="Times New Roman" panose="02020603050405020304" pitchFamily="18" charset="0"/>
              </a:rPr>
              <a:t>Outline</a:t>
            </a:r>
          </a:p>
        </p:txBody>
      </p:sp>
      <p:sp>
        <p:nvSpPr>
          <p:cNvPr id="3" name="Content Placeholder 2">
            <a:extLst>
              <a:ext uri="{FF2B5EF4-FFF2-40B4-BE49-F238E27FC236}">
                <a16:creationId xmlns:a16="http://schemas.microsoft.com/office/drawing/2014/main" id="{DBF283FC-D006-120D-E397-28F6EF6074D3}"/>
              </a:ext>
            </a:extLst>
          </p:cNvPr>
          <p:cNvSpPr>
            <a:spLocks noGrp="1"/>
          </p:cNvSpPr>
          <p:nvPr>
            <p:ph idx="1"/>
          </p:nvPr>
        </p:nvSpPr>
        <p:spPr>
          <a:xfrm>
            <a:off x="2236304" y="1669775"/>
            <a:ext cx="9266720" cy="4641574"/>
          </a:xfrm>
        </p:spPr>
        <p:txBody>
          <a:bodyPr>
            <a:normAutofit fontScale="92500" lnSpcReduction="10000"/>
          </a:bodyPr>
          <a:lstStyle/>
          <a:p>
            <a:r>
              <a:rPr lang="en-IN" sz="2600" dirty="0">
                <a:latin typeface="Times New Roman" panose="02020603050405020304" pitchFamily="18" charset="0"/>
                <a:cs typeface="Times New Roman" panose="02020603050405020304" pitchFamily="18" charset="0"/>
              </a:rPr>
              <a:t>Abstract</a:t>
            </a:r>
          </a:p>
          <a:p>
            <a:r>
              <a:rPr lang="en-IN" sz="2600" dirty="0">
                <a:latin typeface="Times New Roman" panose="02020603050405020304" pitchFamily="18" charset="0"/>
                <a:cs typeface="Times New Roman" panose="02020603050405020304" pitchFamily="18" charset="0"/>
              </a:rPr>
              <a:t>Problem Statement</a:t>
            </a:r>
          </a:p>
          <a:p>
            <a:r>
              <a:rPr lang="en-IN" sz="2600" dirty="0">
                <a:latin typeface="Times New Roman" panose="02020603050405020304" pitchFamily="18" charset="0"/>
                <a:cs typeface="Times New Roman" panose="02020603050405020304" pitchFamily="18" charset="0"/>
              </a:rPr>
              <a:t>Literature Survey</a:t>
            </a:r>
          </a:p>
          <a:p>
            <a:r>
              <a:rPr lang="en-IN" sz="2600" dirty="0">
                <a:latin typeface="Times New Roman" panose="02020603050405020304" pitchFamily="18" charset="0"/>
                <a:cs typeface="Times New Roman" panose="02020603050405020304" pitchFamily="18" charset="0"/>
              </a:rPr>
              <a:t>Objective &amp; Scope</a:t>
            </a:r>
          </a:p>
          <a:p>
            <a:r>
              <a:rPr lang="en-IN" sz="2600" dirty="0">
                <a:latin typeface="Times New Roman" panose="02020603050405020304" pitchFamily="18" charset="0"/>
                <a:cs typeface="Times New Roman" panose="02020603050405020304" pitchFamily="18" charset="0"/>
              </a:rPr>
              <a:t>Existing System</a:t>
            </a:r>
          </a:p>
          <a:p>
            <a:pPr lvl="1"/>
            <a:r>
              <a:rPr lang="en-IN" sz="2600" dirty="0">
                <a:latin typeface="Times New Roman" panose="02020603050405020304" pitchFamily="18" charset="0"/>
                <a:cs typeface="Times New Roman" panose="02020603050405020304" pitchFamily="18" charset="0"/>
              </a:rPr>
              <a:t>Disadvantages</a:t>
            </a:r>
          </a:p>
          <a:p>
            <a:r>
              <a:rPr lang="en-IN" sz="2600" dirty="0">
                <a:latin typeface="Times New Roman" panose="02020603050405020304" pitchFamily="18" charset="0"/>
                <a:cs typeface="Times New Roman" panose="02020603050405020304" pitchFamily="18" charset="0"/>
              </a:rPr>
              <a:t>Proposed System</a:t>
            </a:r>
          </a:p>
          <a:p>
            <a:pPr lvl="1"/>
            <a:r>
              <a:rPr lang="en-IN" sz="2600" dirty="0">
                <a:latin typeface="Times New Roman" panose="02020603050405020304" pitchFamily="18" charset="0"/>
                <a:cs typeface="Times New Roman" panose="02020603050405020304" pitchFamily="18" charset="0"/>
              </a:rPr>
              <a:t>Advantages</a:t>
            </a:r>
          </a:p>
          <a:p>
            <a:r>
              <a:rPr lang="en-IN" sz="2600" dirty="0">
                <a:latin typeface="Times New Roman" panose="02020603050405020304" pitchFamily="18" charset="0"/>
                <a:cs typeface="Times New Roman" panose="02020603050405020304" pitchFamily="18" charset="0"/>
              </a:rPr>
              <a:t>References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2023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81AC3-1A41-9395-DC87-27EBC0285D06}"/>
              </a:ext>
            </a:extLst>
          </p:cNvPr>
          <p:cNvSpPr>
            <a:spLocks noGrp="1"/>
          </p:cNvSpPr>
          <p:nvPr>
            <p:ph type="title"/>
          </p:nvPr>
        </p:nvSpPr>
        <p:spPr>
          <a:xfrm>
            <a:off x="-1902702" y="394524"/>
            <a:ext cx="10018713" cy="864704"/>
          </a:xfrm>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39B89AF4-1FBD-F426-1F94-D5859817ED5F}"/>
              </a:ext>
            </a:extLst>
          </p:cNvPr>
          <p:cNvSpPr>
            <a:spLocks noGrp="1"/>
          </p:cNvSpPr>
          <p:nvPr>
            <p:ph idx="1"/>
          </p:nvPr>
        </p:nvSpPr>
        <p:spPr>
          <a:xfrm>
            <a:off x="1638769" y="1259228"/>
            <a:ext cx="10098226" cy="4820477"/>
          </a:xfrm>
        </p:spPr>
        <p:txBody>
          <a:bodyPr>
            <a:noAutofit/>
          </a:bodyPr>
          <a:lstStyle/>
          <a:p>
            <a:pPr marL="0" indent="0" algn="just">
              <a:lnSpc>
                <a:spcPct val="160000"/>
              </a:lnSpc>
              <a:buNone/>
            </a:pPr>
            <a:r>
              <a:rPr lang="en-US" sz="2000" dirty="0">
                <a:latin typeface="Times New Roman" panose="02020603050405020304" pitchFamily="18" charset="0"/>
                <a:cs typeface="Times New Roman" panose="02020603050405020304" pitchFamily="18" charset="0"/>
              </a:rPr>
              <a:t>Aquaculture plays a significant role in food production and the economy, but fish diseases continue to be a major challenge for fish farmers. One of the primary causes of these diseases is poor water quality, which directly affects the health and growth of fish. This project presents a machine learning-based approach for the early detection of fish health risks using important water quality parameters such as pH, dissolved oxygen (DO), temperature, turbidity, conductivity, nitrate, biological oxygen demand (BOD), and bacterial indicators. The proposed solution offers an efficient, cost-effective, and intelligent decision support system for aquaculture management. By enabling early detection of potential health risks, it helps improve fish survival, reduce disease outbreaks, enhance water quality management, and support sustainable fish farming practices.</a:t>
            </a:r>
          </a:p>
        </p:txBody>
      </p:sp>
    </p:spTree>
    <p:extLst>
      <p:ext uri="{BB962C8B-B14F-4D97-AF65-F5344CB8AC3E}">
        <p14:creationId xmlns:p14="http://schemas.microsoft.com/office/powerpoint/2010/main" val="3932282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1AD8E-589A-AEB3-110E-F0953234B72B}"/>
              </a:ext>
            </a:extLst>
          </p:cNvPr>
          <p:cNvSpPr>
            <a:spLocks noGrp="1"/>
          </p:cNvSpPr>
          <p:nvPr>
            <p:ph type="title"/>
          </p:nvPr>
        </p:nvSpPr>
        <p:spPr>
          <a:xfrm>
            <a:off x="-503110" y="427383"/>
            <a:ext cx="10018713" cy="765313"/>
          </a:xfrm>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914C365A-9A0A-9F7C-926F-A0518EB7A340}"/>
              </a:ext>
            </a:extLst>
          </p:cNvPr>
          <p:cNvSpPr>
            <a:spLocks noGrp="1"/>
          </p:cNvSpPr>
          <p:nvPr>
            <p:ph idx="1"/>
          </p:nvPr>
        </p:nvSpPr>
        <p:spPr>
          <a:xfrm>
            <a:off x="1711084" y="1192696"/>
            <a:ext cx="10018713" cy="4210879"/>
          </a:xfrm>
        </p:spPr>
        <p:txBody>
          <a:bodyPr>
            <a:normAutofit fontScale="92500"/>
          </a:bodyPr>
          <a:lstStyle/>
          <a:p>
            <a:pPr marL="0" indent="0" algn="just">
              <a:lnSpc>
                <a:spcPct val="160000"/>
              </a:lnSpc>
              <a:buNone/>
            </a:pPr>
            <a:r>
              <a:rPr lang="en-US" dirty="0">
                <a:latin typeface="Times New Roman" panose="02020603050405020304" pitchFamily="18" charset="0"/>
                <a:cs typeface="Times New Roman" panose="02020603050405020304" pitchFamily="18" charset="0"/>
              </a:rPr>
              <a:t>Traditional monitoring methods are manual  </a:t>
            </a:r>
            <a:r>
              <a:rPr lang="en-US">
                <a:latin typeface="Times New Roman" panose="02020603050405020304" pitchFamily="18" charset="0"/>
                <a:cs typeface="Times New Roman" panose="02020603050405020304" pitchFamily="18" charset="0"/>
              </a:rPr>
              <a:t>don't predict </a:t>
            </a:r>
            <a:r>
              <a:rPr lang="en-US" dirty="0">
                <a:latin typeface="Times New Roman" panose="02020603050405020304" pitchFamily="18" charset="0"/>
                <a:cs typeface="Times New Roman" panose="02020603050405020304" pitchFamily="18" charset="0"/>
              </a:rPr>
              <a:t>the disease on time  leading to delayed detection, fish mortality will decrease  and economic loss will occur. To face these challenges, there is a need for an intelligent and automated system that can continuously analyze water quality parameters and provide early indications of potential health risks. This project uses machine learning to analyze water quality data and predict fish health status and disease risk, along with possible diseases and preventive recommendations, improving accuracy and enabling early intervention.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943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B51D7-54EC-9735-D38A-09C4BB65EA7E}"/>
              </a:ext>
            </a:extLst>
          </p:cNvPr>
          <p:cNvSpPr>
            <a:spLocks noGrp="1"/>
          </p:cNvSpPr>
          <p:nvPr>
            <p:ph type="title"/>
          </p:nvPr>
        </p:nvSpPr>
        <p:spPr>
          <a:xfrm>
            <a:off x="1553885" y="0"/>
            <a:ext cx="10018713" cy="1182757"/>
          </a:xfrm>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2A660805-464B-0530-D4EE-A1E864243791}"/>
              </a:ext>
            </a:extLst>
          </p:cNvPr>
          <p:cNvGraphicFramePr>
            <a:graphicFrameLocks noGrp="1"/>
          </p:cNvGraphicFramePr>
          <p:nvPr>
            <p:ph idx="1"/>
            <p:extLst>
              <p:ext uri="{D42A27DB-BD31-4B8C-83A1-F6EECF244321}">
                <p14:modId xmlns:p14="http://schemas.microsoft.com/office/powerpoint/2010/main" val="4042657276"/>
              </p:ext>
            </p:extLst>
          </p:nvPr>
        </p:nvGraphicFramePr>
        <p:xfrm>
          <a:off x="1390261" y="1393069"/>
          <a:ext cx="10477274" cy="5049078"/>
        </p:xfrm>
        <a:graphic>
          <a:graphicData uri="http://schemas.openxmlformats.org/drawingml/2006/table">
            <a:tbl>
              <a:tblPr firstRow="1" bandRow="1">
                <a:tableStyleId>{22838BEF-8BB2-4498-84A7-C5851F593DF1}</a:tableStyleId>
              </a:tblPr>
              <a:tblGrid>
                <a:gridCol w="2414823">
                  <a:extLst>
                    <a:ext uri="{9D8B030D-6E8A-4147-A177-3AD203B41FA5}">
                      <a16:colId xmlns:a16="http://schemas.microsoft.com/office/drawing/2014/main" val="2913034171"/>
                    </a:ext>
                  </a:extLst>
                </a:gridCol>
                <a:gridCol w="816077">
                  <a:extLst>
                    <a:ext uri="{9D8B030D-6E8A-4147-A177-3AD203B41FA5}">
                      <a16:colId xmlns:a16="http://schemas.microsoft.com/office/drawing/2014/main" val="3165508532"/>
                    </a:ext>
                  </a:extLst>
                </a:gridCol>
                <a:gridCol w="1351014">
                  <a:extLst>
                    <a:ext uri="{9D8B030D-6E8A-4147-A177-3AD203B41FA5}">
                      <a16:colId xmlns:a16="http://schemas.microsoft.com/office/drawing/2014/main" val="2588059318"/>
                    </a:ext>
                  </a:extLst>
                </a:gridCol>
                <a:gridCol w="2386155">
                  <a:extLst>
                    <a:ext uri="{9D8B030D-6E8A-4147-A177-3AD203B41FA5}">
                      <a16:colId xmlns:a16="http://schemas.microsoft.com/office/drawing/2014/main" val="558017383"/>
                    </a:ext>
                  </a:extLst>
                </a:gridCol>
                <a:gridCol w="2082744">
                  <a:extLst>
                    <a:ext uri="{9D8B030D-6E8A-4147-A177-3AD203B41FA5}">
                      <a16:colId xmlns:a16="http://schemas.microsoft.com/office/drawing/2014/main" val="1664649460"/>
                    </a:ext>
                  </a:extLst>
                </a:gridCol>
                <a:gridCol w="1426461">
                  <a:extLst>
                    <a:ext uri="{9D8B030D-6E8A-4147-A177-3AD203B41FA5}">
                      <a16:colId xmlns:a16="http://schemas.microsoft.com/office/drawing/2014/main" val="3498151070"/>
                    </a:ext>
                  </a:extLst>
                </a:gridCol>
              </a:tblGrid>
              <a:tr h="934278">
                <a:tc>
                  <a:txBody>
                    <a:bodyPr/>
                    <a:lstStyle/>
                    <a:p>
                      <a:r>
                        <a:rPr lang="en-US" sz="2400" dirty="0">
                          <a:latin typeface="Times New Roman" panose="02020603050405020304" pitchFamily="18" charset="0"/>
                          <a:cs typeface="Times New Roman" panose="02020603050405020304" pitchFamily="18" charset="0"/>
                        </a:rPr>
                        <a:t>Paper Title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Year</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Author</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Methods/Models Used</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Key Contribution</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Accuracy</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2916615"/>
                  </a:ext>
                </a:extLst>
              </a:tr>
              <a:tr h="1165363">
                <a:tc>
                  <a:txBody>
                    <a:bodyPr/>
                    <a:lstStyle/>
                    <a:p>
                      <a:pPr algn="l"/>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Predictive Modelling of Fish Diseases Using Machine Learning on Water Quality Parameters   [1]</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N Srujana Roy</a:t>
                      </a:r>
                      <a:endParaRPr lang="en-IN" b="0" dirty="0">
                        <a:latin typeface="Times New Roman" panose="02020603050405020304" pitchFamily="18" charset="0"/>
                        <a:cs typeface="Times New Roman" panose="02020603050405020304" pitchFamily="18" charset="0"/>
                      </a:endParaRPr>
                    </a:p>
                  </a:txBody>
                  <a:tcPr/>
                </a:tc>
                <a:tc>
                  <a:txBody>
                    <a:bodyPr/>
                    <a:lstStyle/>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Random Forest Classifier</a:t>
                      </a:r>
                      <a:endParaRPr lang="en-IN" b="0"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predicts fish disease conditions using water quality parameters.</a:t>
                      </a:r>
                    </a:p>
                  </a:txBody>
                  <a:tcPr/>
                </a:tc>
                <a:tc>
                  <a:txBody>
                    <a:bodyPr/>
                    <a:lstStyle/>
                    <a:p>
                      <a:r>
                        <a:rPr lang="en-US" dirty="0">
                          <a:latin typeface="Times New Roman" panose="02020603050405020304" pitchFamily="18" charset="0"/>
                          <a:cs typeface="Times New Roman" panose="02020603050405020304" pitchFamily="18" charset="0"/>
                        </a:rPr>
                        <a:t>89%</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55530275"/>
                  </a:ext>
                </a:extLst>
              </a:tr>
              <a:tr h="1165363">
                <a:tc>
                  <a:txBody>
                    <a:bodyPr/>
                    <a:lstStyle/>
                    <a:p>
                      <a:r>
                        <a:rPr lang="en-IN" dirty="0">
                          <a:latin typeface="Times New Roman" panose="02020603050405020304" pitchFamily="18" charset="0"/>
                          <a:cs typeface="Times New Roman" panose="02020603050405020304" pitchFamily="18" charset="0"/>
                        </a:rPr>
                        <a:t>AI-powered decision support system for mariculture: Real-time fish mortality prediction with random forest</a:t>
                      </a:r>
                    </a:p>
                  </a:txBody>
                  <a:tcPr/>
                </a:tc>
                <a:tc>
                  <a:txBody>
                    <a:bodyPr/>
                    <a:lstStyle/>
                    <a:p>
                      <a:r>
                        <a:rPr lang="en-US" dirty="0">
                          <a:latin typeface="Times New Roman" panose="02020603050405020304" pitchFamily="18" charset="0"/>
                          <a:cs typeface="Times New Roman" panose="02020603050405020304" pitchFamily="18" charset="0"/>
                        </a:rPr>
                        <a:t>2026</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err="1">
                          <a:latin typeface="Times New Roman" panose="02020603050405020304" pitchFamily="18" charset="0"/>
                          <a:cs typeface="Times New Roman" panose="02020603050405020304" pitchFamily="18" charset="0"/>
                        </a:rPr>
                        <a:t>RamadhonaSaville</a:t>
                      </a:r>
                      <a:r>
                        <a:rPr lang="en-IN" dirty="0">
                          <a:latin typeface="Times New Roman" panose="02020603050405020304" pitchFamily="18" charset="0"/>
                          <a:cs typeface="Times New Roman" panose="02020603050405020304" pitchFamily="18" charset="0"/>
                        </a:rPr>
                        <a:t>, Atsushi Fujiwara</a:t>
                      </a:r>
                    </a:p>
                  </a:txBody>
                  <a:tcPr/>
                </a:tc>
                <a:tc>
                  <a:txBody>
                    <a:bodyPr/>
                    <a:lstStyle/>
                    <a:p>
                      <a:r>
                        <a:rPr lang="en-IN" dirty="0">
                          <a:latin typeface="Times New Roman" panose="02020603050405020304" pitchFamily="18" charset="0"/>
                          <a:cs typeface="Times New Roman" panose="02020603050405020304" pitchFamily="18" charset="0"/>
                        </a:rPr>
                        <a:t>Random Forest</a:t>
                      </a:r>
                    </a:p>
                  </a:txBody>
                  <a:tcPr/>
                </a:tc>
                <a:tc>
                  <a:txBody>
                    <a:bodyPr/>
                    <a:lstStyle/>
                    <a:p>
                      <a:r>
                        <a:rPr lang="en-IN" dirty="0">
                          <a:latin typeface="Times New Roman" panose="02020603050405020304" pitchFamily="18" charset="0"/>
                          <a:cs typeface="Times New Roman" panose="02020603050405020304" pitchFamily="18" charset="0"/>
                        </a:rPr>
                        <a:t>Predicts level of fish </a:t>
                      </a:r>
                      <a:r>
                        <a:rPr lang="en-IN">
                          <a:latin typeface="Times New Roman" panose="02020603050405020304" pitchFamily="18" charset="0"/>
                          <a:cs typeface="Times New Roman" panose="02020603050405020304" pitchFamily="18" charset="0"/>
                        </a:rPr>
                        <a:t>mortality </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78.6% </a:t>
                      </a:r>
                    </a:p>
                  </a:txBody>
                  <a:tcPr/>
                </a:tc>
                <a:extLst>
                  <a:ext uri="{0D108BD9-81ED-4DB2-BD59-A6C34878D82A}">
                    <a16:rowId xmlns:a16="http://schemas.microsoft.com/office/drawing/2014/main" val="3346311028"/>
                  </a:ext>
                </a:extLst>
              </a:tr>
              <a:tr h="1165363">
                <a:tc>
                  <a:txBody>
                    <a:bodyPr/>
                    <a:lstStyle/>
                    <a:p>
                      <a:r>
                        <a:rPr lang="en-IN" dirty="0">
                          <a:latin typeface="Times New Roman" panose="02020603050405020304" pitchFamily="18" charset="0"/>
                          <a:cs typeface="Times New Roman" panose="02020603050405020304" pitchFamily="18" charset="0"/>
                        </a:rPr>
                        <a:t>Water Quality Prediction Using Machine Learning Models</a:t>
                      </a:r>
                    </a:p>
                  </a:txBody>
                  <a:tcPr/>
                </a:tc>
                <a:tc>
                  <a:txBody>
                    <a:bodyPr/>
                    <a:lstStyle/>
                    <a:p>
                      <a:r>
                        <a:rPr lang="en-US" dirty="0">
                          <a:latin typeface="Times New Roman" panose="02020603050405020304" pitchFamily="18" charset="0"/>
                          <a:cs typeface="Times New Roman" panose="02020603050405020304" pitchFamily="18" charset="0"/>
                        </a:rPr>
                        <a:t>2024</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Astha Sharma</a:t>
                      </a:r>
                    </a:p>
                  </a:txBody>
                  <a:tcPr/>
                </a:tc>
                <a:tc>
                  <a:txBody>
                    <a:bodyPr/>
                    <a:lstStyle/>
                    <a:p>
                      <a:r>
                        <a:rPr lang="en-IN" dirty="0">
                          <a:latin typeface="Times New Roman" panose="02020603050405020304" pitchFamily="18" charset="0"/>
                          <a:cs typeface="Times New Roman" panose="02020603050405020304" pitchFamily="18" charset="0"/>
                        </a:rPr>
                        <a:t>Decision Tree</a:t>
                      </a:r>
                    </a:p>
                  </a:txBody>
                  <a:tcPr/>
                </a:tc>
                <a:tc>
                  <a:txBody>
                    <a:bodyPr/>
                    <a:lstStyle/>
                    <a:p>
                      <a:r>
                        <a:rPr lang="en-IN" b="0" dirty="0">
                          <a:latin typeface="Times New Roman" panose="02020603050405020304" pitchFamily="18" charset="0"/>
                          <a:cs typeface="Times New Roman" panose="02020603050405020304" pitchFamily="18" charset="0"/>
                        </a:rPr>
                        <a:t>Compared multiple Machine Learning models for water quality prediction.</a:t>
                      </a:r>
                    </a:p>
                  </a:txBody>
                  <a:tcPr/>
                </a:tc>
                <a:tc>
                  <a:txBody>
                    <a:bodyPr/>
                    <a:lstStyle/>
                    <a:p>
                      <a:r>
                        <a:rPr lang="en-US" dirty="0">
                          <a:latin typeface="Times New Roman" panose="02020603050405020304" pitchFamily="18" charset="0"/>
                          <a:cs typeface="Times New Roman" panose="02020603050405020304" pitchFamily="18" charset="0"/>
                        </a:rPr>
                        <a:t>58.84%</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25212537"/>
                  </a:ext>
                </a:extLst>
              </a:tr>
            </a:tbl>
          </a:graphicData>
        </a:graphic>
      </p:graphicFrame>
    </p:spTree>
    <p:extLst>
      <p:ext uri="{BB962C8B-B14F-4D97-AF65-F5344CB8AC3E}">
        <p14:creationId xmlns:p14="http://schemas.microsoft.com/office/powerpoint/2010/main" val="2909785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D7FB9-A338-8BB8-5D3A-55BA0466DEDA}"/>
              </a:ext>
            </a:extLst>
          </p:cNvPr>
          <p:cNvSpPr>
            <a:spLocks noGrp="1"/>
          </p:cNvSpPr>
          <p:nvPr>
            <p:ph type="title"/>
          </p:nvPr>
        </p:nvSpPr>
        <p:spPr>
          <a:xfrm>
            <a:off x="1400028" y="448746"/>
            <a:ext cx="10018713" cy="487017"/>
          </a:xfrm>
        </p:spPr>
        <p:txBody>
          <a:bodyPr>
            <a:normAutofit fontScale="90000"/>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10" name="Content Placeholder 9">
            <a:extLst>
              <a:ext uri="{FF2B5EF4-FFF2-40B4-BE49-F238E27FC236}">
                <a16:creationId xmlns:a16="http://schemas.microsoft.com/office/drawing/2014/main" id="{ABEE6F76-7E96-3672-E636-539D7FD54D9E}"/>
              </a:ext>
            </a:extLst>
          </p:cNvPr>
          <p:cNvGraphicFramePr>
            <a:graphicFrameLocks noGrp="1"/>
          </p:cNvGraphicFramePr>
          <p:nvPr>
            <p:ph idx="1"/>
            <p:extLst>
              <p:ext uri="{D42A27DB-BD31-4B8C-83A1-F6EECF244321}">
                <p14:modId xmlns:p14="http://schemas.microsoft.com/office/powerpoint/2010/main" val="398907799"/>
              </p:ext>
            </p:extLst>
          </p:nvPr>
        </p:nvGraphicFramePr>
        <p:xfrm>
          <a:off x="1343610" y="1255838"/>
          <a:ext cx="10636897" cy="4663440"/>
        </p:xfrm>
        <a:graphic>
          <a:graphicData uri="http://schemas.openxmlformats.org/drawingml/2006/table">
            <a:tbl>
              <a:tblPr firstRow="1" bandRow="1">
                <a:tableStyleId>{22838BEF-8BB2-4498-84A7-C5851F593DF1}</a:tableStyleId>
              </a:tblPr>
              <a:tblGrid>
                <a:gridCol w="2276669">
                  <a:extLst>
                    <a:ext uri="{9D8B030D-6E8A-4147-A177-3AD203B41FA5}">
                      <a16:colId xmlns:a16="http://schemas.microsoft.com/office/drawing/2014/main" val="201236325"/>
                    </a:ext>
                  </a:extLst>
                </a:gridCol>
                <a:gridCol w="923731">
                  <a:extLst>
                    <a:ext uri="{9D8B030D-6E8A-4147-A177-3AD203B41FA5}">
                      <a16:colId xmlns:a16="http://schemas.microsoft.com/office/drawing/2014/main" val="3657737908"/>
                    </a:ext>
                  </a:extLst>
                </a:gridCol>
                <a:gridCol w="1399592">
                  <a:extLst>
                    <a:ext uri="{9D8B030D-6E8A-4147-A177-3AD203B41FA5}">
                      <a16:colId xmlns:a16="http://schemas.microsoft.com/office/drawing/2014/main" val="3902130854"/>
                    </a:ext>
                  </a:extLst>
                </a:gridCol>
                <a:gridCol w="2397967">
                  <a:extLst>
                    <a:ext uri="{9D8B030D-6E8A-4147-A177-3AD203B41FA5}">
                      <a16:colId xmlns:a16="http://schemas.microsoft.com/office/drawing/2014/main" val="439102337"/>
                    </a:ext>
                  </a:extLst>
                </a:gridCol>
                <a:gridCol w="2192694">
                  <a:extLst>
                    <a:ext uri="{9D8B030D-6E8A-4147-A177-3AD203B41FA5}">
                      <a16:colId xmlns:a16="http://schemas.microsoft.com/office/drawing/2014/main" val="1225361529"/>
                    </a:ext>
                  </a:extLst>
                </a:gridCol>
                <a:gridCol w="1446244">
                  <a:extLst>
                    <a:ext uri="{9D8B030D-6E8A-4147-A177-3AD203B41FA5}">
                      <a16:colId xmlns:a16="http://schemas.microsoft.com/office/drawing/2014/main" val="2378334914"/>
                    </a:ext>
                  </a:extLst>
                </a:gridCol>
              </a:tblGrid>
              <a:tr h="662006">
                <a:tc>
                  <a:txBody>
                    <a:bodyPr/>
                    <a:lstStyle/>
                    <a:p>
                      <a:r>
                        <a:rPr lang="en-US" sz="2400" dirty="0">
                          <a:latin typeface="Times New Roman" panose="02020603050405020304" pitchFamily="18" charset="0"/>
                          <a:cs typeface="Times New Roman" panose="02020603050405020304" pitchFamily="18" charset="0"/>
                        </a:rPr>
                        <a:t>Paper Title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Year</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Author</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Methods/Models Used</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Key Contribution</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Accuracy</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83818007"/>
                  </a:ext>
                </a:extLst>
              </a:tr>
              <a:tr h="941792">
                <a:tc>
                  <a:txBody>
                    <a:bodyPr/>
                    <a:lstStyle/>
                    <a:p>
                      <a:r>
                        <a:rPr lang="en-IN" dirty="0">
                          <a:latin typeface="Times New Roman" panose="02020603050405020304" pitchFamily="18" charset="0"/>
                          <a:cs typeface="Times New Roman" panose="02020603050405020304" pitchFamily="18" charset="0"/>
                        </a:rPr>
                        <a:t>Predicting Fish Diseases Using ML Based on Water Quality Parameters [2]</a:t>
                      </a:r>
                    </a:p>
                  </a:txBody>
                  <a:tcPr/>
                </a:tc>
                <a:tc>
                  <a:txBody>
                    <a:bodyPr/>
                    <a:lstStyle/>
                    <a:p>
                      <a:r>
                        <a:rPr lang="en-US" dirty="0">
                          <a:latin typeface="Times New Roman" panose="02020603050405020304" pitchFamily="18" charset="0"/>
                          <a:cs typeface="Times New Roman" panose="02020603050405020304" pitchFamily="18" charset="0"/>
                        </a:rPr>
                        <a:t>2024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Rajkumar R</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Logistic Regression, SVM</a:t>
                      </a:r>
                    </a:p>
                  </a:txBody>
                  <a:tcPr/>
                </a:tc>
                <a:tc>
                  <a:txBody>
                    <a:bodyPr/>
                    <a:lstStyle/>
                    <a:p>
                      <a:r>
                        <a:rPr lang="en-IN" dirty="0">
                          <a:latin typeface="Times New Roman" panose="02020603050405020304" pitchFamily="18" charset="0"/>
                          <a:cs typeface="Times New Roman" panose="02020603050405020304" pitchFamily="18" charset="0"/>
                        </a:rPr>
                        <a:t>Requires manual monitoring of water quality parameters.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latin typeface="Times New Roman" panose="02020603050405020304" pitchFamily="18" charset="0"/>
                          <a:cs typeface="Times New Roman" panose="02020603050405020304" pitchFamily="18" charset="0"/>
                        </a:rPr>
                        <a:t>82%</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13959485"/>
                  </a:ext>
                </a:extLst>
              </a:tr>
              <a:tr h="941792">
                <a:tc>
                  <a:txBody>
                    <a:bodyPr/>
                    <a:lstStyle/>
                    <a:p>
                      <a:r>
                        <a:rPr lang="en-IN" dirty="0">
                          <a:latin typeface="Times New Roman" panose="02020603050405020304" pitchFamily="18" charset="0"/>
                          <a:cs typeface="Times New Roman" panose="02020603050405020304" pitchFamily="18" charset="0"/>
                        </a:rPr>
                        <a:t>Fish Disease Prediction Using Machine Learning on Water Quality Data</a:t>
                      </a:r>
                    </a:p>
                  </a:txBody>
                  <a:tcPr/>
                </a:tc>
                <a:tc>
                  <a:txBody>
                    <a:bodyPr/>
                    <a:lstStyle/>
                    <a:p>
                      <a:r>
                        <a:rPr lang="en-US" dirty="0">
                          <a:latin typeface="Times New Roman" panose="02020603050405020304" pitchFamily="18" charset="0"/>
                          <a:cs typeface="Times New Roman" panose="02020603050405020304" pitchFamily="18" charset="0"/>
                        </a:rPr>
                        <a:t>2026</a:t>
                      </a:r>
                      <a:endParaRPr lang="en-IN" dirty="0">
                        <a:latin typeface="Times New Roman" panose="02020603050405020304" pitchFamily="18" charset="0"/>
                        <a:cs typeface="Times New Roman" panose="02020603050405020304" pitchFamily="18" charset="0"/>
                      </a:endParaRPr>
                    </a:p>
                  </a:txBody>
                  <a:tcPr/>
                </a:tc>
                <a:tc>
                  <a:txBody>
                    <a:bodyPr/>
                    <a:lstStyle/>
                    <a:p>
                      <a:r>
                        <a:rPr lang="en-IN" b="0" dirty="0">
                          <a:latin typeface="Times New Roman" panose="02020603050405020304" pitchFamily="18" charset="0"/>
                          <a:cs typeface="Times New Roman" panose="02020603050405020304" pitchFamily="18" charset="0"/>
                        </a:rPr>
                        <a:t>Rajat Kumar </a:t>
                      </a:r>
                    </a:p>
                  </a:txBody>
                  <a:tcPr/>
                </a:tc>
                <a:tc>
                  <a:txBody>
                    <a:bodyPr/>
                    <a:lstStyle/>
                    <a:p>
                      <a:r>
                        <a:rPr lang="en-US" dirty="0">
                          <a:latin typeface="Times New Roman" panose="02020603050405020304" pitchFamily="18" charset="0"/>
                          <a:cs typeface="Times New Roman" panose="02020603050405020304" pitchFamily="18" charset="0"/>
                        </a:rPr>
                        <a:t>Random forest Classifier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Used Random Forest Classifier for detect easily</a:t>
                      </a:r>
                      <a:endParaRPr lang="en-IN" dirty="0">
                        <a:latin typeface="Times New Roman" panose="02020603050405020304" pitchFamily="18" charset="0"/>
                        <a:cs typeface="Times New Roman" panose="02020603050405020304" pitchFamily="18" charset="0"/>
                      </a:endParaRPr>
                    </a:p>
                  </a:txBody>
                  <a:tcPr/>
                </a:tc>
                <a:tc>
                  <a:txBody>
                    <a:bodyPr/>
                    <a:lstStyle/>
                    <a:p>
                      <a:r>
                        <a:rPr lang="en-US" b="0">
                          <a:latin typeface="Times New Roman" panose="02020603050405020304" pitchFamily="18" charset="0"/>
                          <a:cs typeface="Times New Roman" panose="02020603050405020304" pitchFamily="18" charset="0"/>
                        </a:rPr>
                        <a:t>89.25%</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03792802"/>
                  </a:ext>
                </a:extLst>
              </a:tr>
              <a:tr h="941792">
                <a:tc>
                  <a:txBody>
                    <a:bodyPr/>
                    <a:lstStyle/>
                    <a:p>
                      <a:r>
                        <a:rPr lang="en-IN" dirty="0">
                          <a:latin typeface="Times New Roman" panose="02020603050405020304" pitchFamily="18" charset="0"/>
                          <a:cs typeface="Times New Roman" panose="02020603050405020304" pitchFamily="18" charset="0"/>
                        </a:rPr>
                        <a:t>Predicting Aquaculture Water Quality Using Machine Learning Approaches[3]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2024</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Tingting Li et al.</a:t>
                      </a:r>
                    </a:p>
                  </a:txBody>
                  <a:tcPr/>
                </a:tc>
                <a:tc>
                  <a:txBody>
                    <a:bodyPr/>
                    <a:lstStyle/>
                    <a:p>
                      <a:r>
                        <a:rPr lang="en-IN" dirty="0">
                          <a:latin typeface="Times New Roman" panose="02020603050405020304" pitchFamily="18" charset="0"/>
                          <a:cs typeface="Times New Roman" panose="02020603050405020304" pitchFamily="18" charset="0"/>
                        </a:rPr>
                        <a:t>SVM, LSSVM</a:t>
                      </a:r>
                    </a:p>
                  </a:txBody>
                  <a:tcPr/>
                </a:tc>
                <a:tc>
                  <a:txBody>
                    <a:bodyPr/>
                    <a:lstStyle/>
                    <a:p>
                      <a:r>
                        <a:rPr lang="en-IN" dirty="0">
                          <a:latin typeface="Times New Roman" panose="02020603050405020304" pitchFamily="18" charset="0"/>
                          <a:cs typeface="Times New Roman" panose="02020603050405020304" pitchFamily="18" charset="0"/>
                        </a:rPr>
                        <a:t>Improved water quality prediction using SVM.</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latin typeface="Times New Roman" panose="02020603050405020304" pitchFamily="18" charset="0"/>
                          <a:cs typeface="Times New Roman" panose="02020603050405020304" pitchFamily="18" charset="0"/>
                        </a:rPr>
                        <a:t>89%</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2749135"/>
                  </a:ext>
                </a:extLst>
              </a:tr>
            </a:tbl>
          </a:graphicData>
        </a:graphic>
      </p:graphicFrame>
    </p:spTree>
    <p:extLst>
      <p:ext uri="{BB962C8B-B14F-4D97-AF65-F5344CB8AC3E}">
        <p14:creationId xmlns:p14="http://schemas.microsoft.com/office/powerpoint/2010/main" val="3024225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98895-0EF0-068F-CA83-B7F27775B092}"/>
              </a:ext>
            </a:extLst>
          </p:cNvPr>
          <p:cNvSpPr>
            <a:spLocks noGrp="1"/>
          </p:cNvSpPr>
          <p:nvPr>
            <p:ph type="title"/>
          </p:nvPr>
        </p:nvSpPr>
        <p:spPr>
          <a:xfrm>
            <a:off x="1484311" y="685800"/>
            <a:ext cx="10018713" cy="655983"/>
          </a:xfrm>
        </p:spPr>
        <p:txBody>
          <a:bodyPr>
            <a:noAutofit/>
          </a:bodyPr>
          <a:lstStyle/>
          <a:p>
            <a:pPr algn="l"/>
            <a:r>
              <a:rPr lang="en-IN"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EF2D3D9D-187C-6593-B61F-52ED16156827}"/>
              </a:ext>
            </a:extLst>
          </p:cNvPr>
          <p:cNvSpPr>
            <a:spLocks noGrp="1"/>
          </p:cNvSpPr>
          <p:nvPr>
            <p:ph idx="1"/>
          </p:nvPr>
        </p:nvSpPr>
        <p:spPr>
          <a:xfrm>
            <a:off x="1484311" y="850392"/>
            <a:ext cx="10018713" cy="3907271"/>
          </a:xfrm>
        </p:spPr>
        <p:txBody>
          <a:bodyPr/>
          <a:lstStyle/>
          <a:p>
            <a:pPr marL="0" indent="0" algn="just">
              <a:buNone/>
            </a:pPr>
            <a:endParaRPr lang="en-US" sz="28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Analyze water quality parameters which are affecting the fish health.</a:t>
            </a:r>
          </a:p>
          <a:p>
            <a:pPr algn="just">
              <a:lnSpc>
                <a:spcPct val="150000"/>
              </a:lnSpc>
            </a:pPr>
            <a:r>
              <a:rPr lang="en-US" dirty="0">
                <a:latin typeface="Times New Roman" panose="02020603050405020304" pitchFamily="18" charset="0"/>
                <a:cs typeface="Times New Roman" panose="02020603050405020304" pitchFamily="18" charset="0"/>
              </a:rPr>
              <a:t>Identify possible diseases based on water quality conditions.</a:t>
            </a:r>
          </a:p>
          <a:p>
            <a:pPr algn="just">
              <a:lnSpc>
                <a:spcPct val="150000"/>
              </a:lnSpc>
            </a:pPr>
            <a:r>
              <a:rPr lang="en-US" dirty="0">
                <a:latin typeface="Times New Roman" panose="02020603050405020304" pitchFamily="18" charset="0"/>
                <a:cs typeface="Times New Roman" panose="02020603050405020304" pitchFamily="18" charset="0"/>
              </a:rPr>
              <a:t>Predict fish health status and disease risk.</a:t>
            </a:r>
          </a:p>
          <a:p>
            <a:pPr algn="just">
              <a:lnSpc>
                <a:spcPct val="150000"/>
              </a:lnSpc>
            </a:pPr>
            <a:r>
              <a:rPr lang="en-US" dirty="0">
                <a:latin typeface="Times New Roman" panose="02020603050405020304" pitchFamily="18" charset="0"/>
                <a:cs typeface="Times New Roman" panose="02020603050405020304" pitchFamily="18" charset="0"/>
              </a:rPr>
              <a:t>Provide preventive recommendations for better aquaculture management.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2274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8144B-41CC-6EDC-0586-361BF411A923}"/>
              </a:ext>
            </a:extLst>
          </p:cNvPr>
          <p:cNvSpPr>
            <a:spLocks noGrp="1"/>
          </p:cNvSpPr>
          <p:nvPr>
            <p:ph type="title"/>
          </p:nvPr>
        </p:nvSpPr>
        <p:spPr>
          <a:xfrm>
            <a:off x="1275587" y="327992"/>
            <a:ext cx="10018713" cy="1461052"/>
          </a:xfrm>
        </p:spPr>
        <p:txBody>
          <a:bodyPr/>
          <a:lstStyle/>
          <a:p>
            <a:pPr algn="l"/>
            <a:r>
              <a:rPr lang="en-IN" dirty="0">
                <a:latin typeface="Times New Roman" panose="02020603050405020304" pitchFamily="18" charset="0"/>
                <a:cs typeface="Times New Roman" panose="02020603050405020304" pitchFamily="18" charset="0"/>
              </a:rPr>
              <a:t>   SCOPE</a:t>
            </a:r>
          </a:p>
        </p:txBody>
      </p:sp>
      <p:sp>
        <p:nvSpPr>
          <p:cNvPr id="3" name="Content Placeholder 2">
            <a:extLst>
              <a:ext uri="{FF2B5EF4-FFF2-40B4-BE49-F238E27FC236}">
                <a16:creationId xmlns:a16="http://schemas.microsoft.com/office/drawing/2014/main" id="{A2F708F1-F958-0F15-8F55-202F5D5FD378}"/>
              </a:ext>
            </a:extLst>
          </p:cNvPr>
          <p:cNvSpPr>
            <a:spLocks noGrp="1"/>
          </p:cNvSpPr>
          <p:nvPr>
            <p:ph idx="1"/>
          </p:nvPr>
        </p:nvSpPr>
        <p:spPr>
          <a:xfrm>
            <a:off x="1655263" y="1569800"/>
            <a:ext cx="10018713" cy="3124201"/>
          </a:xfrm>
        </p:spPr>
        <p:txBody>
          <a:bodyPr>
            <a:normAutofit fontScale="92500" lnSpcReduction="20000"/>
          </a:bodyPr>
          <a:lstStyle/>
          <a:p>
            <a:pPr algn="just">
              <a:lnSpc>
                <a:spcPct val="150000"/>
              </a:lnSpc>
            </a:pPr>
            <a:r>
              <a:rPr lang="en-US" dirty="0">
                <a:latin typeface="Times New Roman" panose="02020603050405020304" pitchFamily="18" charset="0"/>
                <a:cs typeface="Times New Roman" panose="02020603050405020304" pitchFamily="18" charset="0"/>
              </a:rPr>
              <a:t>Support early decision-making in fish health.</a:t>
            </a:r>
          </a:p>
          <a:p>
            <a:pPr algn="just">
              <a:lnSpc>
                <a:spcPct val="150000"/>
              </a:lnSpc>
            </a:pPr>
            <a:r>
              <a:rPr lang="en-US" dirty="0">
                <a:latin typeface="Times New Roman" panose="02020603050405020304" pitchFamily="18" charset="0"/>
                <a:cs typeface="Times New Roman" panose="02020603050405020304" pitchFamily="18" charset="0"/>
              </a:rPr>
              <a:t>To support fish farms and by improving water quality management and enabling early detection of potential fish health risks.</a:t>
            </a:r>
          </a:p>
          <a:p>
            <a:pPr algn="just">
              <a:lnSpc>
                <a:spcPct val="150000"/>
              </a:lnSpc>
            </a:pPr>
            <a:r>
              <a:rPr lang="en-IN" dirty="0">
                <a:latin typeface="Times New Roman" panose="02020603050405020304" pitchFamily="18" charset="0"/>
                <a:cs typeface="Times New Roman" panose="02020603050405020304" pitchFamily="18" charset="0"/>
              </a:rPr>
              <a:t>Web application support.</a:t>
            </a:r>
          </a:p>
          <a:p>
            <a:pPr algn="just">
              <a:lnSpc>
                <a:spcPct val="150000"/>
              </a:lnSpc>
            </a:pPr>
            <a:r>
              <a:rPr lang="en-US" dirty="0">
                <a:latin typeface="Times New Roman" panose="02020603050405020304" pitchFamily="18" charset="0"/>
                <a:cs typeface="Times New Roman" panose="02020603050405020304" pitchFamily="18" charset="0"/>
              </a:rPr>
              <a:t>Display the reason behind each prediction by identifying the water quality parameters that influence the result.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9641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CE1CC-C2CA-4947-61F9-2BE26528C640}"/>
              </a:ext>
            </a:extLst>
          </p:cNvPr>
          <p:cNvSpPr>
            <a:spLocks noGrp="1"/>
          </p:cNvSpPr>
          <p:nvPr>
            <p:ph type="title"/>
          </p:nvPr>
        </p:nvSpPr>
        <p:spPr>
          <a:xfrm>
            <a:off x="1484310" y="258419"/>
            <a:ext cx="10018713" cy="934278"/>
          </a:xfrm>
        </p:spPr>
        <p:txBody>
          <a:bodyPr/>
          <a:lstStyle/>
          <a:p>
            <a:pPr algn="l"/>
            <a:r>
              <a:rPr lang="en-IN"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DF774CDC-97F5-8C91-F0CD-4D7C3544097F}"/>
              </a:ext>
            </a:extLst>
          </p:cNvPr>
          <p:cNvSpPr>
            <a:spLocks noGrp="1"/>
          </p:cNvSpPr>
          <p:nvPr>
            <p:ph idx="1"/>
          </p:nvPr>
        </p:nvSpPr>
        <p:spPr>
          <a:xfrm>
            <a:off x="1484310" y="1192697"/>
            <a:ext cx="10422556" cy="4657873"/>
          </a:xfrm>
        </p:spPr>
        <p:txBody>
          <a:bodyPr>
            <a:normAutofit/>
          </a:bodyPr>
          <a:lstStyle/>
          <a:p>
            <a:pPr marL="0" indent="0">
              <a:lnSpc>
                <a:spcPct val="110000"/>
              </a:lnSpc>
              <a:buNone/>
            </a:pPr>
            <a:r>
              <a:rPr lang="en-IN" sz="2800" b="1" dirty="0">
                <a:latin typeface="Times New Roman" panose="02020603050405020304" pitchFamily="18" charset="0"/>
                <a:cs typeface="Times New Roman" panose="02020603050405020304" pitchFamily="18" charset="0"/>
              </a:rPr>
              <a:t>Disadvantages</a:t>
            </a:r>
          </a:p>
          <a:p>
            <a:pPr>
              <a:lnSpc>
                <a:spcPct val="110000"/>
              </a:lnSpc>
            </a:pPr>
            <a:r>
              <a:rPr lang="en-US" dirty="0">
                <a:latin typeface="Times New Roman" panose="02020603050405020304" pitchFamily="18" charset="0"/>
                <a:cs typeface="Times New Roman" panose="02020603050405020304" pitchFamily="18" charset="0"/>
              </a:rPr>
              <a:t>Uses only one or two machine learning algorithm.</a:t>
            </a:r>
          </a:p>
          <a:p>
            <a:pPr>
              <a:lnSpc>
                <a:spcPct val="110000"/>
              </a:lnSpc>
            </a:pPr>
            <a:r>
              <a:rPr lang="en-US" dirty="0">
                <a:latin typeface="Times New Roman" panose="02020603050405020304" pitchFamily="18" charset="0"/>
                <a:cs typeface="Times New Roman" panose="02020603050405020304" pitchFamily="18" charset="0"/>
              </a:rPr>
              <a:t>Focuses only on disease prediction and does not provide the reason behind the prediction.</a:t>
            </a:r>
          </a:p>
          <a:p>
            <a:pPr>
              <a:lnSpc>
                <a:spcPct val="110000"/>
              </a:lnSpc>
            </a:pPr>
            <a:r>
              <a:rPr lang="en-US" dirty="0">
                <a:latin typeface="Times New Roman" panose="02020603050405020304" pitchFamily="18" charset="0"/>
                <a:cs typeface="Times New Roman" panose="02020603050405020304" pitchFamily="18" charset="0"/>
              </a:rPr>
              <a:t>Does not offer recommendations or preventive measures to improve water quality.</a:t>
            </a:r>
          </a:p>
          <a:p>
            <a:pPr>
              <a:lnSpc>
                <a:spcPct val="110000"/>
              </a:lnSpc>
            </a:pPr>
            <a:r>
              <a:rPr lang="en-US" dirty="0">
                <a:latin typeface="Times New Roman" panose="02020603050405020304" pitchFamily="18" charset="0"/>
                <a:cs typeface="Times New Roman" panose="02020603050405020304" pitchFamily="18" charset="0"/>
              </a:rPr>
              <a:t>No dashboard for visualizing predictions and water quality analysis.</a:t>
            </a:r>
            <a:endParaRPr lang="en-IN" sz="2800" dirty="0">
              <a:latin typeface="Times New Roman" panose="02020603050405020304" pitchFamily="18" charset="0"/>
              <a:cs typeface="Times New Roman" panose="02020603050405020304" pitchFamily="18" charset="0"/>
            </a:endParaRPr>
          </a:p>
          <a:p>
            <a:pPr>
              <a:lnSpc>
                <a:spcPct val="110000"/>
              </a:lnSpc>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9865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F49C8-F4CB-A18C-0A41-D5F2CA666C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979465-9545-2585-9E2A-6E8675FB87CB}"/>
              </a:ext>
            </a:extLst>
          </p:cNvPr>
          <p:cNvSpPr>
            <a:spLocks noGrp="1"/>
          </p:cNvSpPr>
          <p:nvPr>
            <p:ph type="title"/>
          </p:nvPr>
        </p:nvSpPr>
        <p:spPr>
          <a:xfrm>
            <a:off x="1484310" y="258419"/>
            <a:ext cx="10018713" cy="934278"/>
          </a:xfrm>
        </p:spPr>
        <p:txBody>
          <a:bodyPr/>
          <a:lstStyle/>
          <a:p>
            <a:pPr algn="l"/>
            <a:r>
              <a:rPr lang="en-IN"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B09C6457-A76A-C4E1-85FD-9BB986A8AD8A}"/>
              </a:ext>
            </a:extLst>
          </p:cNvPr>
          <p:cNvSpPr>
            <a:spLocks noGrp="1"/>
          </p:cNvSpPr>
          <p:nvPr>
            <p:ph idx="1"/>
          </p:nvPr>
        </p:nvSpPr>
        <p:spPr>
          <a:xfrm>
            <a:off x="1484310" y="1192697"/>
            <a:ext cx="10422556" cy="4657873"/>
          </a:xfrm>
        </p:spPr>
        <p:txBody>
          <a:bodyPr>
            <a:normAutofit/>
          </a:bodyPr>
          <a:lstStyle/>
          <a:p>
            <a:pPr>
              <a:lnSpc>
                <a:spcPct val="110000"/>
              </a:lnSpc>
            </a:pPr>
            <a:endParaRPr lang="en-IN" sz="2800" dirty="0">
              <a:latin typeface="Times New Roman" panose="02020603050405020304" pitchFamily="18" charset="0"/>
              <a:cs typeface="Times New Roman" panose="02020603050405020304" pitchFamily="18" charset="0"/>
            </a:endParaRPr>
          </a:p>
        </p:txBody>
      </p:sp>
      <p:sp>
        <p:nvSpPr>
          <p:cNvPr id="6" name="Oval 5">
            <a:extLst>
              <a:ext uri="{FF2B5EF4-FFF2-40B4-BE49-F238E27FC236}">
                <a16:creationId xmlns:a16="http://schemas.microsoft.com/office/drawing/2014/main" id="{C9BABEFC-E0B0-DEDC-E819-3F4B8208765D}"/>
              </a:ext>
            </a:extLst>
          </p:cNvPr>
          <p:cNvSpPr/>
          <p:nvPr/>
        </p:nvSpPr>
        <p:spPr>
          <a:xfrm>
            <a:off x="1656735" y="2268917"/>
            <a:ext cx="1876425" cy="93427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Start</a:t>
            </a:r>
          </a:p>
        </p:txBody>
      </p:sp>
      <p:sp>
        <p:nvSpPr>
          <p:cNvPr id="7" name="Rectangle 6">
            <a:extLst>
              <a:ext uri="{FF2B5EF4-FFF2-40B4-BE49-F238E27FC236}">
                <a16:creationId xmlns:a16="http://schemas.microsoft.com/office/drawing/2014/main" id="{97B9834B-1F67-A7D4-2EE2-2273DE9CE12C}"/>
              </a:ext>
            </a:extLst>
          </p:cNvPr>
          <p:cNvSpPr/>
          <p:nvPr/>
        </p:nvSpPr>
        <p:spPr>
          <a:xfrm>
            <a:off x="6243330" y="2202656"/>
            <a:ext cx="2295525" cy="1066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Data Preprocessing </a:t>
            </a:r>
          </a:p>
        </p:txBody>
      </p:sp>
      <p:sp>
        <p:nvSpPr>
          <p:cNvPr id="8" name="Rectangle 7">
            <a:extLst>
              <a:ext uri="{FF2B5EF4-FFF2-40B4-BE49-F238E27FC236}">
                <a16:creationId xmlns:a16="http://schemas.microsoft.com/office/drawing/2014/main" id="{1E9529A5-17D9-23DB-DFAC-E81D57923B9D}"/>
              </a:ext>
            </a:extLst>
          </p:cNvPr>
          <p:cNvSpPr/>
          <p:nvPr/>
        </p:nvSpPr>
        <p:spPr>
          <a:xfrm>
            <a:off x="9286876" y="2105025"/>
            <a:ext cx="2019300" cy="1066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Uses Single ML Algorithm(Random Forest)</a:t>
            </a:r>
          </a:p>
        </p:txBody>
      </p:sp>
      <p:sp>
        <p:nvSpPr>
          <p:cNvPr id="9" name="Rectangle 8">
            <a:extLst>
              <a:ext uri="{FF2B5EF4-FFF2-40B4-BE49-F238E27FC236}">
                <a16:creationId xmlns:a16="http://schemas.microsoft.com/office/drawing/2014/main" id="{40613E9B-A612-7487-C2E5-6C4545D40CF5}"/>
              </a:ext>
            </a:extLst>
          </p:cNvPr>
          <p:cNvSpPr/>
          <p:nvPr/>
        </p:nvSpPr>
        <p:spPr>
          <a:xfrm>
            <a:off x="9286876" y="3952875"/>
            <a:ext cx="2019300" cy="1066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Fish Disease Prediction(Healthy/Disease)</a:t>
            </a:r>
          </a:p>
        </p:txBody>
      </p:sp>
      <p:sp>
        <p:nvSpPr>
          <p:cNvPr id="10" name="Oval 9">
            <a:extLst>
              <a:ext uri="{FF2B5EF4-FFF2-40B4-BE49-F238E27FC236}">
                <a16:creationId xmlns:a16="http://schemas.microsoft.com/office/drawing/2014/main" id="{40884131-83BE-E591-0D06-0045F6A404C7}"/>
              </a:ext>
            </a:extLst>
          </p:cNvPr>
          <p:cNvSpPr/>
          <p:nvPr/>
        </p:nvSpPr>
        <p:spPr>
          <a:xfrm>
            <a:off x="6172200" y="4020867"/>
            <a:ext cx="184785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Stop</a:t>
            </a:r>
          </a:p>
        </p:txBody>
      </p:sp>
      <p:sp>
        <p:nvSpPr>
          <p:cNvPr id="11" name="Rectangle 10">
            <a:extLst>
              <a:ext uri="{FF2B5EF4-FFF2-40B4-BE49-F238E27FC236}">
                <a16:creationId xmlns:a16="http://schemas.microsoft.com/office/drawing/2014/main" id="{970AE5A7-D1A4-170F-9D3B-F140686A1134}"/>
              </a:ext>
            </a:extLst>
          </p:cNvPr>
          <p:cNvSpPr/>
          <p:nvPr/>
        </p:nvSpPr>
        <p:spPr>
          <a:xfrm>
            <a:off x="4133850" y="2300287"/>
            <a:ext cx="1361460" cy="8715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Dataset</a:t>
            </a:r>
          </a:p>
        </p:txBody>
      </p:sp>
      <p:sp>
        <p:nvSpPr>
          <p:cNvPr id="12" name="Arrow: Right 11">
            <a:extLst>
              <a:ext uri="{FF2B5EF4-FFF2-40B4-BE49-F238E27FC236}">
                <a16:creationId xmlns:a16="http://schemas.microsoft.com/office/drawing/2014/main" id="{0CCB21EF-968B-444E-ACC4-11F8DA472260}"/>
              </a:ext>
            </a:extLst>
          </p:cNvPr>
          <p:cNvSpPr/>
          <p:nvPr/>
        </p:nvSpPr>
        <p:spPr>
          <a:xfrm>
            <a:off x="3533160" y="2690337"/>
            <a:ext cx="600690"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Right 12">
            <a:extLst>
              <a:ext uri="{FF2B5EF4-FFF2-40B4-BE49-F238E27FC236}">
                <a16:creationId xmlns:a16="http://schemas.microsoft.com/office/drawing/2014/main" id="{2C565131-30AE-37ED-10F2-DAA376A50007}"/>
              </a:ext>
            </a:extLst>
          </p:cNvPr>
          <p:cNvSpPr/>
          <p:nvPr/>
        </p:nvSpPr>
        <p:spPr>
          <a:xfrm>
            <a:off x="5495310" y="2690337"/>
            <a:ext cx="748020"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96BD4A47-E04C-CA1E-7280-4A62BD74A99D}"/>
              </a:ext>
            </a:extLst>
          </p:cNvPr>
          <p:cNvSpPr/>
          <p:nvPr/>
        </p:nvSpPr>
        <p:spPr>
          <a:xfrm>
            <a:off x="8538855" y="2690337"/>
            <a:ext cx="748020"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Down 14">
            <a:extLst>
              <a:ext uri="{FF2B5EF4-FFF2-40B4-BE49-F238E27FC236}">
                <a16:creationId xmlns:a16="http://schemas.microsoft.com/office/drawing/2014/main" id="{BC01128B-150A-9A25-5F27-BB431A907FA2}"/>
              </a:ext>
            </a:extLst>
          </p:cNvPr>
          <p:cNvSpPr/>
          <p:nvPr/>
        </p:nvSpPr>
        <p:spPr>
          <a:xfrm>
            <a:off x="10258425" y="3203195"/>
            <a:ext cx="45719" cy="74968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Left 15">
            <a:extLst>
              <a:ext uri="{FF2B5EF4-FFF2-40B4-BE49-F238E27FC236}">
                <a16:creationId xmlns:a16="http://schemas.microsoft.com/office/drawing/2014/main" id="{38A3F4B9-D29A-B9CB-ABD9-217BB2808B07}"/>
              </a:ext>
            </a:extLst>
          </p:cNvPr>
          <p:cNvSpPr/>
          <p:nvPr/>
        </p:nvSpPr>
        <p:spPr>
          <a:xfrm>
            <a:off x="8020050" y="4448175"/>
            <a:ext cx="1266825" cy="4571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83993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A9735-17DE-63FD-EB5B-9BCE3FF7647C}"/>
              </a:ext>
            </a:extLst>
          </p:cNvPr>
          <p:cNvSpPr>
            <a:spLocks noGrp="1"/>
          </p:cNvSpPr>
          <p:nvPr>
            <p:ph type="title"/>
          </p:nvPr>
        </p:nvSpPr>
        <p:spPr>
          <a:xfrm>
            <a:off x="1489179" y="-14908"/>
            <a:ext cx="10018713" cy="897105"/>
          </a:xfrm>
        </p:spPr>
        <p:txBody>
          <a:bodyPr/>
          <a:lstStyle/>
          <a:p>
            <a:pPr algn="l"/>
            <a:r>
              <a:rPr lang="en-IN" dirty="0">
                <a:latin typeface="Times New Roman" panose="02020603050405020304" pitchFamily="18" charset="0"/>
                <a:cs typeface="Times New Roman" panose="02020603050405020304" pitchFamily="18" charset="0"/>
              </a:rPr>
              <a:t> PROPOSED SYSTEM</a:t>
            </a:r>
          </a:p>
        </p:txBody>
      </p:sp>
      <p:sp>
        <p:nvSpPr>
          <p:cNvPr id="3" name="Content Placeholder 2">
            <a:extLst>
              <a:ext uri="{FF2B5EF4-FFF2-40B4-BE49-F238E27FC236}">
                <a16:creationId xmlns:a16="http://schemas.microsoft.com/office/drawing/2014/main" id="{52D824F0-205E-83F4-7846-A960F27C4EF6}"/>
              </a:ext>
            </a:extLst>
          </p:cNvPr>
          <p:cNvSpPr>
            <a:spLocks noGrp="1"/>
          </p:cNvSpPr>
          <p:nvPr>
            <p:ph idx="1"/>
          </p:nvPr>
        </p:nvSpPr>
        <p:spPr>
          <a:xfrm>
            <a:off x="1660844" y="300412"/>
            <a:ext cx="10241196" cy="5756844"/>
          </a:xfrm>
        </p:spPr>
        <p:txBody>
          <a:bodyPr>
            <a:noAutofit/>
          </a:bodyPr>
          <a:lstStyle/>
          <a:p>
            <a:pPr marL="0" indent="0" algn="just">
              <a:buNone/>
            </a:pPr>
            <a:endParaRPr lang="en-IN" sz="1400" b="1" dirty="0">
              <a:latin typeface="Times New Roman" panose="02020603050405020304" pitchFamily="18" charset="0"/>
              <a:cs typeface="Times New Roman" panose="02020603050405020304" pitchFamily="18" charset="0"/>
            </a:endParaRPr>
          </a:p>
          <a:p>
            <a:pPr marL="0" indent="0" algn="just">
              <a:buNone/>
            </a:pPr>
            <a:r>
              <a:rPr lang="en-IN" sz="2800" b="1" dirty="0">
                <a:latin typeface="Times New Roman" panose="02020603050405020304" pitchFamily="18" charset="0"/>
                <a:cs typeface="Times New Roman" panose="02020603050405020304" pitchFamily="18" charset="0"/>
              </a:rPr>
              <a:t>Advantages:</a:t>
            </a:r>
          </a:p>
          <a:p>
            <a:pPr algn="just"/>
            <a:r>
              <a:rPr lang="en-US" dirty="0">
                <a:latin typeface="Times New Roman" panose="02020603050405020304" pitchFamily="18" charset="0"/>
                <a:cs typeface="Times New Roman" panose="02020603050405020304" pitchFamily="18" charset="0"/>
              </a:rPr>
              <a:t>Trains and compares multiple machine learning algorithms and  select the best-performing model for higher prediction accuracy.</a:t>
            </a:r>
          </a:p>
          <a:p>
            <a:pPr algn="just"/>
            <a:r>
              <a:rPr lang="en-US" dirty="0">
                <a:latin typeface="Times New Roman" panose="02020603050405020304" pitchFamily="18" charset="0"/>
                <a:cs typeface="Times New Roman" panose="02020603050405020304" pitchFamily="18" charset="0"/>
              </a:rPr>
              <a:t>Classifies different types of fish diseases instead of only predicting whether the fish is healthy or diseased.</a:t>
            </a:r>
          </a:p>
          <a:p>
            <a:pPr algn="just"/>
            <a:r>
              <a:rPr lang="en-US" dirty="0">
                <a:latin typeface="Times New Roman" panose="02020603050405020304" pitchFamily="18" charset="0"/>
                <a:cs typeface="Times New Roman" panose="02020603050405020304" pitchFamily="18" charset="0"/>
              </a:rPr>
              <a:t> Identifies the water quality parameters which are responsible for the predicted disease. </a:t>
            </a:r>
          </a:p>
          <a:p>
            <a:pPr algn="just"/>
            <a:r>
              <a:rPr lang="en-US" dirty="0">
                <a:latin typeface="Times New Roman" panose="02020603050405020304" pitchFamily="18" charset="0"/>
                <a:cs typeface="Times New Roman" panose="02020603050405020304" pitchFamily="18" charset="0"/>
              </a:rPr>
              <a:t>Provides recommendations to improve water quality and reduce the risk of disease.</a:t>
            </a:r>
          </a:p>
          <a:p>
            <a:pPr algn="just"/>
            <a:r>
              <a:rPr lang="en-US" dirty="0">
                <a:latin typeface="Times New Roman" panose="02020603050405020304" pitchFamily="18" charset="0"/>
                <a:cs typeface="Times New Roman" panose="02020603050405020304" pitchFamily="18" charset="0"/>
              </a:rPr>
              <a:t>Features an interactive dashboard to display prediction results, performance metrics, and water quality analysis.</a:t>
            </a:r>
          </a:p>
        </p:txBody>
      </p:sp>
    </p:spTree>
    <p:extLst>
      <p:ext uri="{BB962C8B-B14F-4D97-AF65-F5344CB8AC3E}">
        <p14:creationId xmlns:p14="http://schemas.microsoft.com/office/powerpoint/2010/main" val="3530777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BADA7-9EDE-DF08-0030-E972C9E9E9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17DA3D-43D3-9397-6DF6-0F7A8F21E1CB}"/>
              </a:ext>
            </a:extLst>
          </p:cNvPr>
          <p:cNvSpPr>
            <a:spLocks noGrp="1"/>
          </p:cNvSpPr>
          <p:nvPr>
            <p:ph type="title"/>
          </p:nvPr>
        </p:nvSpPr>
        <p:spPr>
          <a:xfrm>
            <a:off x="1489179" y="-14908"/>
            <a:ext cx="10018713" cy="897105"/>
          </a:xfrm>
        </p:spPr>
        <p:txBody>
          <a:bodyPr/>
          <a:lstStyle/>
          <a:p>
            <a:pPr algn="l"/>
            <a:r>
              <a:rPr lang="en-IN" dirty="0">
                <a:latin typeface="Times New Roman" panose="02020603050405020304" pitchFamily="18" charset="0"/>
                <a:cs typeface="Times New Roman" panose="02020603050405020304" pitchFamily="18" charset="0"/>
              </a:rPr>
              <a:t> PROPOSED SYSTEM</a:t>
            </a:r>
          </a:p>
        </p:txBody>
      </p:sp>
      <p:sp>
        <p:nvSpPr>
          <p:cNvPr id="3" name="Content Placeholder 2">
            <a:extLst>
              <a:ext uri="{FF2B5EF4-FFF2-40B4-BE49-F238E27FC236}">
                <a16:creationId xmlns:a16="http://schemas.microsoft.com/office/drawing/2014/main" id="{9E14B114-1F09-74C0-270F-B3F7813371A9}"/>
              </a:ext>
            </a:extLst>
          </p:cNvPr>
          <p:cNvSpPr>
            <a:spLocks noGrp="1"/>
          </p:cNvSpPr>
          <p:nvPr>
            <p:ph idx="1"/>
          </p:nvPr>
        </p:nvSpPr>
        <p:spPr>
          <a:xfrm>
            <a:off x="684108" y="300411"/>
            <a:ext cx="11217932" cy="6128963"/>
          </a:xfrm>
        </p:spPr>
        <p:txBody>
          <a:bodyPr>
            <a:noAutofit/>
          </a:bodyPr>
          <a:lstStyle/>
          <a:p>
            <a:pPr marL="0" indent="0" algn="just">
              <a:buNone/>
            </a:pPr>
            <a:endParaRPr lang="en-IN" sz="1400" b="1" dirty="0">
              <a:latin typeface="Times New Roman" panose="02020603050405020304" pitchFamily="18" charset="0"/>
              <a:cs typeface="Times New Roman" panose="02020603050405020304" pitchFamily="18" charset="0"/>
            </a:endParaRPr>
          </a:p>
        </p:txBody>
      </p:sp>
      <p:sp>
        <p:nvSpPr>
          <p:cNvPr id="4" name="Oval 3">
            <a:extLst>
              <a:ext uri="{FF2B5EF4-FFF2-40B4-BE49-F238E27FC236}">
                <a16:creationId xmlns:a16="http://schemas.microsoft.com/office/drawing/2014/main" id="{41E8D8E7-3E9F-0A3A-9599-DD3C755D2BFC}"/>
              </a:ext>
            </a:extLst>
          </p:cNvPr>
          <p:cNvSpPr/>
          <p:nvPr/>
        </p:nvSpPr>
        <p:spPr>
          <a:xfrm>
            <a:off x="1238250" y="664076"/>
            <a:ext cx="1466850" cy="80962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Start</a:t>
            </a:r>
          </a:p>
        </p:txBody>
      </p:sp>
      <p:sp>
        <p:nvSpPr>
          <p:cNvPr id="5" name="Rectangle 4">
            <a:extLst>
              <a:ext uri="{FF2B5EF4-FFF2-40B4-BE49-F238E27FC236}">
                <a16:creationId xmlns:a16="http://schemas.microsoft.com/office/drawing/2014/main" id="{7A373307-C8DC-4576-D9F3-A10DF517A93D}"/>
              </a:ext>
            </a:extLst>
          </p:cNvPr>
          <p:cNvSpPr/>
          <p:nvPr/>
        </p:nvSpPr>
        <p:spPr>
          <a:xfrm>
            <a:off x="3935517" y="1617495"/>
            <a:ext cx="1933575" cy="8096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Data Preprocessing</a:t>
            </a:r>
          </a:p>
        </p:txBody>
      </p:sp>
      <p:sp>
        <p:nvSpPr>
          <p:cNvPr id="6" name="Rectangle 5">
            <a:extLst>
              <a:ext uri="{FF2B5EF4-FFF2-40B4-BE49-F238E27FC236}">
                <a16:creationId xmlns:a16="http://schemas.microsoft.com/office/drawing/2014/main" id="{9EECF133-995A-31FA-F85D-3CCD91A16034}"/>
              </a:ext>
            </a:extLst>
          </p:cNvPr>
          <p:cNvSpPr/>
          <p:nvPr/>
        </p:nvSpPr>
        <p:spPr>
          <a:xfrm>
            <a:off x="6896945" y="1617495"/>
            <a:ext cx="1819275" cy="8096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Uses  Multiple </a:t>
            </a:r>
          </a:p>
          <a:p>
            <a:pPr algn="ctr"/>
            <a:r>
              <a:rPr lang="en-IN" dirty="0">
                <a:latin typeface="Times New Roman" panose="02020603050405020304" pitchFamily="18" charset="0"/>
                <a:cs typeface="Times New Roman" panose="02020603050405020304" pitchFamily="18" charset="0"/>
              </a:rPr>
              <a:t>ML Algorithms</a:t>
            </a:r>
          </a:p>
        </p:txBody>
      </p:sp>
      <p:sp>
        <p:nvSpPr>
          <p:cNvPr id="7" name="Rectangle 6">
            <a:extLst>
              <a:ext uri="{FF2B5EF4-FFF2-40B4-BE49-F238E27FC236}">
                <a16:creationId xmlns:a16="http://schemas.microsoft.com/office/drawing/2014/main" id="{8391869C-154B-658D-F315-AC26A76698BA}"/>
              </a:ext>
            </a:extLst>
          </p:cNvPr>
          <p:cNvSpPr/>
          <p:nvPr/>
        </p:nvSpPr>
        <p:spPr>
          <a:xfrm>
            <a:off x="9744074" y="1569870"/>
            <a:ext cx="1685925" cy="8572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Select Best Performing Algorithm</a:t>
            </a:r>
          </a:p>
        </p:txBody>
      </p:sp>
      <p:sp>
        <p:nvSpPr>
          <p:cNvPr id="8" name="Rectangle 7">
            <a:extLst>
              <a:ext uri="{FF2B5EF4-FFF2-40B4-BE49-F238E27FC236}">
                <a16:creationId xmlns:a16="http://schemas.microsoft.com/office/drawing/2014/main" id="{0C870523-0CF2-330D-9986-BD9B184C303C}"/>
              </a:ext>
            </a:extLst>
          </p:cNvPr>
          <p:cNvSpPr/>
          <p:nvPr/>
        </p:nvSpPr>
        <p:spPr>
          <a:xfrm>
            <a:off x="9626496" y="3562350"/>
            <a:ext cx="1881396" cy="11239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Fish Disease Prediction</a:t>
            </a:r>
          </a:p>
          <a:p>
            <a:pPr algn="ctr"/>
            <a:r>
              <a:rPr lang="en-IN" dirty="0">
                <a:latin typeface="Times New Roman" panose="02020603050405020304" pitchFamily="18" charset="0"/>
                <a:cs typeface="Times New Roman" panose="02020603050405020304" pitchFamily="18" charset="0"/>
              </a:rPr>
              <a:t>(Healthy/Risk</a:t>
            </a:r>
            <a:r>
              <a:rPr lang="en-IN" dirty="0"/>
              <a:t>)</a:t>
            </a:r>
          </a:p>
        </p:txBody>
      </p:sp>
      <p:sp>
        <p:nvSpPr>
          <p:cNvPr id="10" name="Diamond 9">
            <a:extLst>
              <a:ext uri="{FF2B5EF4-FFF2-40B4-BE49-F238E27FC236}">
                <a16:creationId xmlns:a16="http://schemas.microsoft.com/office/drawing/2014/main" id="{42B624A6-A79C-00D2-6867-7A9A613ADC90}"/>
              </a:ext>
            </a:extLst>
          </p:cNvPr>
          <p:cNvSpPr/>
          <p:nvPr/>
        </p:nvSpPr>
        <p:spPr>
          <a:xfrm>
            <a:off x="6524625" y="3400425"/>
            <a:ext cx="2191595" cy="1285875"/>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If Disease predicted</a:t>
            </a:r>
          </a:p>
        </p:txBody>
      </p:sp>
      <p:sp>
        <p:nvSpPr>
          <p:cNvPr id="11" name="Rectangle 10">
            <a:extLst>
              <a:ext uri="{FF2B5EF4-FFF2-40B4-BE49-F238E27FC236}">
                <a16:creationId xmlns:a16="http://schemas.microsoft.com/office/drawing/2014/main" id="{A898F5E2-B251-BBF0-9030-433F4D76DB9D}"/>
              </a:ext>
            </a:extLst>
          </p:cNvPr>
          <p:cNvSpPr/>
          <p:nvPr/>
        </p:nvSpPr>
        <p:spPr>
          <a:xfrm>
            <a:off x="5181600" y="5029200"/>
            <a:ext cx="5286375" cy="12096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Identifies Type of Fish Disease and due to which water quality parameter it is affected </a:t>
            </a:r>
          </a:p>
        </p:txBody>
      </p:sp>
      <p:sp>
        <p:nvSpPr>
          <p:cNvPr id="13" name="Rectangle 12">
            <a:extLst>
              <a:ext uri="{FF2B5EF4-FFF2-40B4-BE49-F238E27FC236}">
                <a16:creationId xmlns:a16="http://schemas.microsoft.com/office/drawing/2014/main" id="{B44FD4D1-DBD9-F584-7A73-E91A2A87661F}"/>
              </a:ext>
            </a:extLst>
          </p:cNvPr>
          <p:cNvSpPr/>
          <p:nvPr/>
        </p:nvSpPr>
        <p:spPr>
          <a:xfrm>
            <a:off x="3305175" y="3452812"/>
            <a:ext cx="2119605" cy="10763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Provide</a:t>
            </a:r>
          </a:p>
          <a:p>
            <a:pPr algn="ctr"/>
            <a:r>
              <a:rPr lang="en-IN" dirty="0">
                <a:latin typeface="Times New Roman" panose="02020603050405020304" pitchFamily="18" charset="0"/>
                <a:cs typeface="Times New Roman" panose="02020603050405020304" pitchFamily="18" charset="0"/>
              </a:rPr>
              <a:t>Recommendations</a:t>
            </a:r>
          </a:p>
        </p:txBody>
      </p:sp>
      <p:sp>
        <p:nvSpPr>
          <p:cNvPr id="14" name="Oval 13">
            <a:extLst>
              <a:ext uri="{FF2B5EF4-FFF2-40B4-BE49-F238E27FC236}">
                <a16:creationId xmlns:a16="http://schemas.microsoft.com/office/drawing/2014/main" id="{C4EB4520-2B0E-982D-F1D8-4F29765B756D}"/>
              </a:ext>
            </a:extLst>
          </p:cNvPr>
          <p:cNvSpPr/>
          <p:nvPr/>
        </p:nvSpPr>
        <p:spPr>
          <a:xfrm>
            <a:off x="1238250" y="3686175"/>
            <a:ext cx="1232849" cy="75247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Stop</a:t>
            </a:r>
          </a:p>
        </p:txBody>
      </p:sp>
      <p:sp>
        <p:nvSpPr>
          <p:cNvPr id="15" name="Arrow: Right 14">
            <a:extLst>
              <a:ext uri="{FF2B5EF4-FFF2-40B4-BE49-F238E27FC236}">
                <a16:creationId xmlns:a16="http://schemas.microsoft.com/office/drawing/2014/main" id="{B431B125-4F99-BC7F-B85E-346AD7FDBD6E}"/>
              </a:ext>
            </a:extLst>
          </p:cNvPr>
          <p:cNvSpPr/>
          <p:nvPr/>
        </p:nvSpPr>
        <p:spPr>
          <a:xfrm>
            <a:off x="2705100" y="2030077"/>
            <a:ext cx="1230417"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4179ECF4-570A-D39B-8A2A-0D72DE25FB0B}"/>
              </a:ext>
            </a:extLst>
          </p:cNvPr>
          <p:cNvSpPr/>
          <p:nvPr/>
        </p:nvSpPr>
        <p:spPr>
          <a:xfrm>
            <a:off x="5869092" y="2030077"/>
            <a:ext cx="1027853"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77DF3C1B-CD67-EB94-73EE-B3CDABF164E0}"/>
              </a:ext>
            </a:extLst>
          </p:cNvPr>
          <p:cNvSpPr/>
          <p:nvPr/>
        </p:nvSpPr>
        <p:spPr>
          <a:xfrm>
            <a:off x="8716220" y="1984358"/>
            <a:ext cx="1027853"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Down 18">
            <a:extLst>
              <a:ext uri="{FF2B5EF4-FFF2-40B4-BE49-F238E27FC236}">
                <a16:creationId xmlns:a16="http://schemas.microsoft.com/office/drawing/2014/main" id="{D1386F48-F4F1-A545-D43B-C408FE388D43}"/>
              </a:ext>
            </a:extLst>
          </p:cNvPr>
          <p:cNvSpPr/>
          <p:nvPr/>
        </p:nvSpPr>
        <p:spPr>
          <a:xfrm>
            <a:off x="10467975" y="2427120"/>
            <a:ext cx="45719" cy="11239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Left 19">
            <a:extLst>
              <a:ext uri="{FF2B5EF4-FFF2-40B4-BE49-F238E27FC236}">
                <a16:creationId xmlns:a16="http://schemas.microsoft.com/office/drawing/2014/main" id="{C45619E7-BC65-73F0-2C9B-8F9F1B427EBE}"/>
              </a:ext>
            </a:extLst>
          </p:cNvPr>
          <p:cNvSpPr/>
          <p:nvPr/>
        </p:nvSpPr>
        <p:spPr>
          <a:xfrm flipV="1">
            <a:off x="8716220" y="4019550"/>
            <a:ext cx="910276" cy="6667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Left 20">
            <a:extLst>
              <a:ext uri="{FF2B5EF4-FFF2-40B4-BE49-F238E27FC236}">
                <a16:creationId xmlns:a16="http://schemas.microsoft.com/office/drawing/2014/main" id="{DE564C56-0D66-22BD-4191-87C093CEE69E}"/>
              </a:ext>
            </a:extLst>
          </p:cNvPr>
          <p:cNvSpPr/>
          <p:nvPr/>
        </p:nvSpPr>
        <p:spPr>
          <a:xfrm>
            <a:off x="5424780" y="4019550"/>
            <a:ext cx="1099845" cy="6667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Left 21">
            <a:extLst>
              <a:ext uri="{FF2B5EF4-FFF2-40B4-BE49-F238E27FC236}">
                <a16:creationId xmlns:a16="http://schemas.microsoft.com/office/drawing/2014/main" id="{819925A6-10B8-EE84-F777-AB5E7D3BB080}"/>
              </a:ext>
            </a:extLst>
          </p:cNvPr>
          <p:cNvSpPr/>
          <p:nvPr/>
        </p:nvSpPr>
        <p:spPr>
          <a:xfrm>
            <a:off x="2471099" y="4019550"/>
            <a:ext cx="834076" cy="4571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Down 22">
            <a:extLst>
              <a:ext uri="{FF2B5EF4-FFF2-40B4-BE49-F238E27FC236}">
                <a16:creationId xmlns:a16="http://schemas.microsoft.com/office/drawing/2014/main" id="{658970E9-1CE5-C642-7C19-00CCF930776F}"/>
              </a:ext>
            </a:extLst>
          </p:cNvPr>
          <p:cNvSpPr/>
          <p:nvPr/>
        </p:nvSpPr>
        <p:spPr>
          <a:xfrm>
            <a:off x="7600950" y="4686300"/>
            <a:ext cx="57150" cy="3429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2125E31F-8040-2B14-9C4C-79099B45987B}"/>
              </a:ext>
            </a:extLst>
          </p:cNvPr>
          <p:cNvSpPr/>
          <p:nvPr/>
        </p:nvSpPr>
        <p:spPr>
          <a:xfrm>
            <a:off x="1238250" y="1781175"/>
            <a:ext cx="1466849" cy="8096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Dataset</a:t>
            </a:r>
          </a:p>
        </p:txBody>
      </p:sp>
      <p:sp>
        <p:nvSpPr>
          <p:cNvPr id="25" name="Arrow: Down 24">
            <a:extLst>
              <a:ext uri="{FF2B5EF4-FFF2-40B4-BE49-F238E27FC236}">
                <a16:creationId xmlns:a16="http://schemas.microsoft.com/office/drawing/2014/main" id="{C5BFE951-11A7-E9EF-7515-9AEB264A6A1C}"/>
              </a:ext>
            </a:extLst>
          </p:cNvPr>
          <p:cNvSpPr/>
          <p:nvPr/>
        </p:nvSpPr>
        <p:spPr>
          <a:xfrm>
            <a:off x="1895475" y="1473701"/>
            <a:ext cx="45719" cy="30747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5308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B1AA6-2892-6A09-852E-BCAEEAB7FA42}"/>
              </a:ext>
            </a:extLst>
          </p:cNvPr>
          <p:cNvSpPr>
            <a:spLocks noGrp="1"/>
          </p:cNvSpPr>
          <p:nvPr>
            <p:ph type="title"/>
          </p:nvPr>
        </p:nvSpPr>
        <p:spPr>
          <a:xfrm>
            <a:off x="1484310" y="168215"/>
            <a:ext cx="10018713" cy="961845"/>
          </a:xfrm>
        </p:spPr>
        <p:txBody>
          <a:bodyPr/>
          <a:lstStyle/>
          <a:p>
            <a:r>
              <a:rPr lang="en-US" dirty="0">
                <a:latin typeface="Times New Roman" panose="02020603050405020304" pitchFamily="18" charset="0"/>
                <a:cs typeface="Times New Roman" panose="02020603050405020304" pitchFamily="18" charset="0"/>
              </a:rPr>
              <a:t>Existing Dataset vs Proposed Dataset</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395178C-447A-18AA-4D8C-E6EDC544D4FF}"/>
              </a:ext>
            </a:extLst>
          </p:cNvPr>
          <p:cNvSpPr>
            <a:spLocks noGrp="1"/>
          </p:cNvSpPr>
          <p:nvPr>
            <p:ph type="body" idx="1"/>
          </p:nvPr>
        </p:nvSpPr>
        <p:spPr>
          <a:xfrm>
            <a:off x="1484310" y="1404248"/>
            <a:ext cx="4607188" cy="576262"/>
          </a:xfrm>
        </p:spPr>
        <p:txBody>
          <a:bodyPr/>
          <a:lstStyle/>
          <a:p>
            <a:r>
              <a:rPr lang="en-IN" dirty="0">
                <a:latin typeface="Times New Roman" panose="02020603050405020304" pitchFamily="18" charset="0"/>
                <a:cs typeface="Times New Roman" panose="02020603050405020304" pitchFamily="18" charset="0"/>
              </a:rPr>
              <a:t>Existing System / Base Paper</a:t>
            </a:r>
          </a:p>
        </p:txBody>
      </p:sp>
      <p:sp>
        <p:nvSpPr>
          <p:cNvPr id="4" name="Content Placeholder 3">
            <a:extLst>
              <a:ext uri="{FF2B5EF4-FFF2-40B4-BE49-F238E27FC236}">
                <a16:creationId xmlns:a16="http://schemas.microsoft.com/office/drawing/2014/main" id="{B54D71F1-6E65-0A22-BB39-B702B07385EC}"/>
              </a:ext>
            </a:extLst>
          </p:cNvPr>
          <p:cNvSpPr>
            <a:spLocks noGrp="1"/>
          </p:cNvSpPr>
          <p:nvPr>
            <p:ph sz="half" idx="2"/>
          </p:nvPr>
        </p:nvSpPr>
        <p:spPr>
          <a:xfrm>
            <a:off x="1484311" y="2254698"/>
            <a:ext cx="4895056" cy="3826925"/>
          </a:xfrm>
        </p:spPr>
        <p:txBody>
          <a:bodyPr/>
          <a:lstStyle/>
          <a:p>
            <a:pPr algn="just"/>
            <a:r>
              <a:rPr lang="en-US" dirty="0">
                <a:latin typeface="Times New Roman" panose="02020603050405020304" pitchFamily="18" charset="0"/>
                <a:cs typeface="Times New Roman" panose="02020603050405020304" pitchFamily="18" charset="0"/>
              </a:rPr>
              <a:t>Uses smaller dataset with minimum records.</a:t>
            </a:r>
          </a:p>
          <a:p>
            <a:pPr algn="just"/>
            <a:r>
              <a:rPr lang="en-US" dirty="0">
                <a:latin typeface="Times New Roman" panose="02020603050405020304" pitchFamily="18" charset="0"/>
                <a:cs typeface="Times New Roman" panose="02020603050405020304" pitchFamily="18" charset="0"/>
              </a:rPr>
              <a:t>It focuses on </a:t>
            </a:r>
            <a:r>
              <a:rPr lang="en-IN" dirty="0">
                <a:latin typeface="Times New Roman" panose="02020603050405020304" pitchFamily="18" charset="0"/>
                <a:cs typeface="Times New Roman" panose="02020603050405020304" pitchFamily="18" charset="0"/>
              </a:rPr>
              <a:t>mainly water-quality measurements.</a:t>
            </a:r>
          </a:p>
          <a:p>
            <a:pPr algn="just"/>
            <a:r>
              <a:rPr lang="en-IN" dirty="0">
                <a:latin typeface="Times New Roman" panose="02020603050405020304" pitchFamily="18" charset="0"/>
                <a:cs typeface="Times New Roman" panose="02020603050405020304" pitchFamily="18" charset="0"/>
              </a:rPr>
              <a:t>Water-quality parameters such as </a:t>
            </a:r>
            <a:r>
              <a:rPr lang="en-US" dirty="0">
                <a:latin typeface="Times New Roman" panose="02020603050405020304" pitchFamily="18" charset="0"/>
                <a:cs typeface="Times New Roman" panose="02020603050405020304" pitchFamily="18" charset="0"/>
              </a:rPr>
              <a:t>pH, hardness , solids, chloramines and turbidity.</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Focuses on water-quality classification with classes such as Healthy or Diseased.</a:t>
            </a:r>
          </a:p>
          <a:p>
            <a:pPr algn="just"/>
            <a:r>
              <a:rPr lang="en-IN" dirty="0">
                <a:latin typeface="Times New Roman" panose="02020603050405020304" pitchFamily="18" charset="0"/>
                <a:cs typeface="Times New Roman" panose="02020603050405020304" pitchFamily="18" charset="0"/>
              </a:rPr>
              <a:t>Does not contain fish disease occurrence information.</a:t>
            </a:r>
          </a:p>
        </p:txBody>
      </p:sp>
      <p:sp>
        <p:nvSpPr>
          <p:cNvPr id="5" name="Text Placeholder 4">
            <a:extLst>
              <a:ext uri="{FF2B5EF4-FFF2-40B4-BE49-F238E27FC236}">
                <a16:creationId xmlns:a16="http://schemas.microsoft.com/office/drawing/2014/main" id="{DCB9C02F-9D71-E4F6-D9C4-D396F31C07B0}"/>
              </a:ext>
            </a:extLst>
          </p:cNvPr>
          <p:cNvSpPr>
            <a:spLocks noGrp="1"/>
          </p:cNvSpPr>
          <p:nvPr>
            <p:ph type="body" sz="quarter" idx="3"/>
          </p:nvPr>
        </p:nvSpPr>
        <p:spPr>
          <a:xfrm>
            <a:off x="6880486" y="1404248"/>
            <a:ext cx="4622537" cy="576262"/>
          </a:xfrm>
        </p:spPr>
        <p:txBody>
          <a:bodyPr/>
          <a:lstStyle/>
          <a:p>
            <a:r>
              <a:rPr lang="en-IN" dirty="0">
                <a:latin typeface="Times New Roman" panose="02020603050405020304" pitchFamily="18" charset="0"/>
                <a:cs typeface="Times New Roman" panose="02020603050405020304" pitchFamily="18" charset="0"/>
              </a:rPr>
              <a:t>Proposed System</a:t>
            </a:r>
          </a:p>
        </p:txBody>
      </p:sp>
      <p:sp>
        <p:nvSpPr>
          <p:cNvPr id="6" name="Content Placeholder 5">
            <a:extLst>
              <a:ext uri="{FF2B5EF4-FFF2-40B4-BE49-F238E27FC236}">
                <a16:creationId xmlns:a16="http://schemas.microsoft.com/office/drawing/2014/main" id="{8F5AB0B3-C989-7D90-59C6-886C55EA754D}"/>
              </a:ext>
            </a:extLst>
          </p:cNvPr>
          <p:cNvSpPr>
            <a:spLocks noGrp="1"/>
          </p:cNvSpPr>
          <p:nvPr>
            <p:ph sz="quarter" idx="4"/>
          </p:nvPr>
        </p:nvSpPr>
        <p:spPr>
          <a:xfrm>
            <a:off x="6607967" y="2254698"/>
            <a:ext cx="4895056" cy="3826925"/>
          </a:xfrm>
        </p:spPr>
        <p:txBody>
          <a:bodyPr/>
          <a:lstStyle/>
          <a:p>
            <a:pPr algn="just"/>
            <a:r>
              <a:rPr lang="en-US" dirty="0">
                <a:latin typeface="Times New Roman" panose="02020603050405020304" pitchFamily="18" charset="0"/>
                <a:cs typeface="Times New Roman" panose="02020603050405020304" pitchFamily="18" charset="0"/>
              </a:rPr>
              <a:t>Uses largest dataset with maximum records.</a:t>
            </a:r>
          </a:p>
          <a:p>
            <a:pPr algn="just"/>
            <a:r>
              <a:rPr lang="en-US" dirty="0">
                <a:latin typeface="Times New Roman" panose="02020603050405020304" pitchFamily="18" charset="0"/>
                <a:cs typeface="Times New Roman" panose="02020603050405020304" pitchFamily="18" charset="0"/>
              </a:rPr>
              <a:t>It focuses on </a:t>
            </a:r>
            <a:r>
              <a:rPr lang="en-IN" dirty="0">
                <a:latin typeface="Times New Roman" panose="02020603050405020304" pitchFamily="18" charset="0"/>
                <a:cs typeface="Times New Roman" panose="02020603050405020304" pitchFamily="18" charset="0"/>
              </a:rPr>
              <a:t>water quality, fish health, environmental information.</a:t>
            </a:r>
          </a:p>
          <a:p>
            <a:pPr algn="just"/>
            <a:r>
              <a:rPr lang="en-IN" dirty="0">
                <a:latin typeface="Times New Roman" panose="02020603050405020304" pitchFamily="18" charset="0"/>
                <a:cs typeface="Times New Roman" panose="02020603050405020304" pitchFamily="18" charset="0"/>
              </a:rPr>
              <a:t>Main water-quality parameters – Temperature, Dissolved Oxygen, pH and Turbidity, Ammonia, Nitrite, Hardness.</a:t>
            </a:r>
          </a:p>
          <a:p>
            <a:pPr algn="just"/>
            <a:r>
              <a:rPr lang="en-IN" dirty="0">
                <a:latin typeface="Times New Roman" panose="02020603050405020304" pitchFamily="18" charset="0"/>
                <a:cs typeface="Times New Roman" panose="02020603050405020304" pitchFamily="18" charset="0"/>
              </a:rPr>
              <a:t>Includes fish-health information, such as Average Fish Weight and Survival Rate.</a:t>
            </a:r>
          </a:p>
          <a:p>
            <a:pPr algn="just"/>
            <a:r>
              <a:rPr lang="en-US" dirty="0">
                <a:latin typeface="Times New Roman" panose="02020603050405020304" pitchFamily="18" charset="0"/>
                <a:cs typeface="Times New Roman" panose="02020603050405020304" pitchFamily="18" charset="0"/>
              </a:rPr>
              <a:t>Predicts type of fish disease and level of fish mortality</a:t>
            </a:r>
          </a:p>
          <a:p>
            <a:pPr algn="just"/>
            <a:r>
              <a:rPr lang="en-US" dirty="0">
                <a:latin typeface="Times New Roman" panose="02020603050405020304" pitchFamily="18" charset="0"/>
                <a:cs typeface="Times New Roman" panose="02020603050405020304" pitchFamily="18" charset="0"/>
              </a:rPr>
              <a:t>Provides preventive measures.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7573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CA479-7D6E-29BB-50AD-F9E1F86D5395}"/>
              </a:ext>
            </a:extLst>
          </p:cNvPr>
          <p:cNvSpPr>
            <a:spLocks noGrp="1"/>
          </p:cNvSpPr>
          <p:nvPr>
            <p:ph type="title"/>
          </p:nvPr>
        </p:nvSpPr>
        <p:spPr>
          <a:xfrm>
            <a:off x="1484310" y="-285361"/>
            <a:ext cx="10018713" cy="1752599"/>
          </a:xfrm>
        </p:spPr>
        <p:txBody>
          <a:bodyPr/>
          <a:lstStyle/>
          <a:p>
            <a:pPr algn="l"/>
            <a:r>
              <a:rPr lang="en-IN"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58D9E050-2737-C7C9-C2BA-91F56A703FCA}"/>
              </a:ext>
            </a:extLst>
          </p:cNvPr>
          <p:cNvSpPr>
            <a:spLocks noGrp="1"/>
          </p:cNvSpPr>
          <p:nvPr>
            <p:ph idx="1"/>
          </p:nvPr>
        </p:nvSpPr>
        <p:spPr>
          <a:xfrm>
            <a:off x="1343026" y="180975"/>
            <a:ext cx="10159997" cy="6210299"/>
          </a:xfrm>
        </p:spPr>
        <p:txBody>
          <a:bodyPr>
            <a:noAutofit/>
          </a:bodyPr>
          <a:lstStyle/>
          <a:p>
            <a:pPr algn="just">
              <a:lnSpc>
                <a:spcPct val="170000"/>
              </a:lnSpc>
            </a:pPr>
            <a:endParaRPr lang="en-IN" sz="1600" dirty="0">
              <a:latin typeface="Times New Roman" panose="02020603050405020304" pitchFamily="18" charset="0"/>
              <a:cs typeface="Times New Roman" panose="02020603050405020304" pitchFamily="18" charset="0"/>
            </a:endParaRPr>
          </a:p>
          <a:p>
            <a:pPr algn="just">
              <a:lnSpc>
                <a:spcPct val="170000"/>
              </a:lnSpc>
            </a:pPr>
            <a:r>
              <a:rPr lang="en-IN" sz="1600" b="1" dirty="0">
                <a:latin typeface="Times New Roman" panose="02020603050405020304" pitchFamily="18" charset="0"/>
                <a:cs typeface="Times New Roman" panose="02020603050405020304" pitchFamily="18" charset="0"/>
              </a:rPr>
              <a:t>Rajkumar R., Vishnu Sai </a:t>
            </a:r>
            <a:r>
              <a:rPr lang="en-IN" sz="1600" b="1" dirty="0" err="1">
                <a:latin typeface="Times New Roman" panose="02020603050405020304" pitchFamily="18" charset="0"/>
                <a:cs typeface="Times New Roman" panose="02020603050405020304" pitchFamily="18" charset="0"/>
              </a:rPr>
              <a:t>Nallagatla</a:t>
            </a:r>
            <a:r>
              <a:rPr lang="en-IN" sz="1600" b="1" dirty="0">
                <a:latin typeface="Times New Roman" panose="02020603050405020304" pitchFamily="18" charset="0"/>
                <a:cs typeface="Times New Roman" panose="02020603050405020304" pitchFamily="18" charset="0"/>
              </a:rPr>
              <a:t>, Rahul S. G., Lokesh Akula, Saketh Reddy </a:t>
            </a:r>
            <a:r>
              <a:rPr lang="en-IN" sz="1600" b="1" dirty="0" err="1">
                <a:latin typeface="Times New Roman" panose="02020603050405020304" pitchFamily="18" charset="0"/>
                <a:cs typeface="Times New Roman" panose="02020603050405020304" pitchFamily="18" charset="0"/>
              </a:rPr>
              <a:t>Balpunuri</a:t>
            </a:r>
            <a:r>
              <a:rPr lang="en-IN" sz="1600" b="1" dirty="0">
                <a:latin typeface="Times New Roman" panose="02020603050405020304" pitchFamily="18" charset="0"/>
                <a:cs typeface="Times New Roman" panose="02020603050405020304" pitchFamily="18" charset="0"/>
              </a:rPr>
              <a:t>, and Nandhini,</a:t>
            </a:r>
            <a:r>
              <a:rPr lang="en-IN" sz="1600" dirty="0">
                <a:latin typeface="Times New Roman" panose="02020603050405020304" pitchFamily="18" charset="0"/>
                <a:cs typeface="Times New Roman" panose="02020603050405020304" pitchFamily="18" charset="0"/>
              </a:rPr>
              <a:t> "Predicting Fish Diseases Using Machine Learning Based on Water Quality Parameters," </a:t>
            </a:r>
            <a:r>
              <a:rPr lang="en-IN" sz="1600" i="1" dirty="0">
                <a:latin typeface="Times New Roman" panose="02020603050405020304" pitchFamily="18" charset="0"/>
                <a:cs typeface="Times New Roman" panose="02020603050405020304" pitchFamily="18" charset="0"/>
              </a:rPr>
              <a:t>2024 15th International Conference on Computing, Communication and Networking Technologies (ICCCNT)</a:t>
            </a:r>
            <a:r>
              <a:rPr lang="en-IN" sz="1600" dirty="0">
                <a:latin typeface="Times New Roman" panose="02020603050405020304" pitchFamily="18" charset="0"/>
                <a:cs typeface="Times New Roman" panose="02020603050405020304" pitchFamily="18" charset="0"/>
              </a:rPr>
              <a:t>, IEEE, 2024, </a:t>
            </a:r>
            <a:r>
              <a:rPr lang="en-IN" sz="1600" dirty="0" err="1">
                <a:latin typeface="Times New Roman" panose="02020603050405020304" pitchFamily="18" charset="0"/>
                <a:cs typeface="Times New Roman" panose="02020603050405020304" pitchFamily="18" charset="0"/>
              </a:rPr>
              <a:t>doi</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10.1109/ICCCNT61001.2024.10725573</a:t>
            </a:r>
            <a:r>
              <a:rPr lang="en-IN" sz="1600" dirty="0">
                <a:latin typeface="Times New Roman" panose="02020603050405020304" pitchFamily="18" charset="0"/>
                <a:cs typeface="Times New Roman" panose="02020603050405020304" pitchFamily="18" charset="0"/>
              </a:rPr>
              <a:t>. </a:t>
            </a:r>
            <a:endParaRPr lang="en-IN" sz="1600" b="1" dirty="0">
              <a:latin typeface="Times New Roman" panose="02020603050405020304" pitchFamily="18" charset="0"/>
              <a:cs typeface="Times New Roman" panose="02020603050405020304" pitchFamily="18" charset="0"/>
            </a:endParaRPr>
          </a:p>
          <a:p>
            <a:pPr algn="just">
              <a:lnSpc>
                <a:spcPct val="170000"/>
              </a:lnSpc>
            </a:pPr>
            <a:r>
              <a:rPr lang="en-IN" sz="1600" b="1" dirty="0">
                <a:latin typeface="Times New Roman" panose="02020603050405020304" pitchFamily="18" charset="0"/>
                <a:cs typeface="Times New Roman" panose="02020603050405020304" pitchFamily="18" charset="0"/>
              </a:rPr>
              <a:t>Dr. T. Sravan Kumar, K. </a:t>
            </a:r>
            <a:r>
              <a:rPr lang="en-IN" sz="1600" b="1" dirty="0" err="1">
                <a:latin typeface="Times New Roman" panose="02020603050405020304" pitchFamily="18" charset="0"/>
                <a:cs typeface="Times New Roman" panose="02020603050405020304" pitchFamily="18" charset="0"/>
              </a:rPr>
              <a:t>Nandulal</a:t>
            </a:r>
            <a:r>
              <a:rPr lang="en-IN" sz="1600" b="1" dirty="0">
                <a:latin typeface="Times New Roman" panose="02020603050405020304" pitchFamily="18" charset="0"/>
                <a:cs typeface="Times New Roman" panose="02020603050405020304" pitchFamily="18" charset="0"/>
              </a:rPr>
              <a:t>, and M. Varalaxmi,</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"Machine Learning-Based Early Detection of Fish Diseases Through Water Quality Monitoring,"</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Journal of Nonlinear Analysis and Optimization (JNAO), 2023.</a:t>
            </a:r>
            <a:r>
              <a:rPr lang="en-IN" sz="1600" dirty="0">
                <a:latin typeface="Times New Roman" panose="02020603050405020304" pitchFamily="18" charset="0"/>
                <a:cs typeface="Times New Roman" panose="02020603050405020304" pitchFamily="18" charset="0"/>
              </a:rPr>
              <a:t> </a:t>
            </a:r>
          </a:p>
          <a:p>
            <a:pPr algn="just">
              <a:lnSpc>
                <a:spcPct val="170000"/>
              </a:lnSpc>
            </a:pPr>
            <a:r>
              <a:rPr lang="en-IN" sz="1600" dirty="0">
                <a:latin typeface="Times New Roman" panose="02020603050405020304" pitchFamily="18" charset="0"/>
                <a:cs typeface="Times New Roman" panose="02020603050405020304" pitchFamily="18" charset="0"/>
              </a:rPr>
              <a:t>Md. Shoaib Ahmed, T. T. </a:t>
            </a:r>
            <a:r>
              <a:rPr lang="en-IN" sz="1600" dirty="0" err="1">
                <a:latin typeface="Times New Roman" panose="02020603050405020304" pitchFamily="18" charset="0"/>
                <a:cs typeface="Times New Roman" panose="02020603050405020304" pitchFamily="18" charset="0"/>
              </a:rPr>
              <a:t>Aurpa</a:t>
            </a:r>
            <a:r>
              <a:rPr lang="en-IN" sz="1600" dirty="0">
                <a:latin typeface="Times New Roman" panose="02020603050405020304" pitchFamily="18" charset="0"/>
                <a:cs typeface="Times New Roman" panose="02020603050405020304" pitchFamily="18" charset="0"/>
              </a:rPr>
              <a:t>, and Md. A. K. Azad, </a:t>
            </a:r>
            <a:r>
              <a:rPr lang="en-IN" sz="1600" b="1" dirty="0">
                <a:latin typeface="Times New Roman" panose="02020603050405020304" pitchFamily="18" charset="0"/>
                <a:cs typeface="Times New Roman" panose="02020603050405020304" pitchFamily="18" charset="0"/>
              </a:rPr>
              <a:t>"Fish Disease Detection Using Image Based Machine Learning Technique in Aquaculture,"</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Journal of King Saud University – Computer and Information Sciences</a:t>
            </a:r>
            <a:r>
              <a:rPr lang="en-IN" sz="1600" dirty="0">
                <a:latin typeface="Times New Roman" panose="02020603050405020304" pitchFamily="18" charset="0"/>
                <a:cs typeface="Times New Roman" panose="02020603050405020304" pitchFamily="18" charset="0"/>
              </a:rPr>
              <a:t>, vol. 34, no. 8, pp. 5170–5182, 2022. DOI: </a:t>
            </a:r>
            <a:r>
              <a:rPr lang="en-IN" sz="1600" b="1" dirty="0">
                <a:latin typeface="Times New Roman" panose="02020603050405020304" pitchFamily="18" charset="0"/>
                <a:cs typeface="Times New Roman" panose="02020603050405020304" pitchFamily="18" charset="0"/>
              </a:rPr>
              <a:t>10.1016/j.jksuci.2021.05.003</a:t>
            </a:r>
            <a:r>
              <a:rPr lang="en-IN" sz="1600" dirty="0">
                <a:latin typeface="Times New Roman" panose="02020603050405020304" pitchFamily="18" charset="0"/>
                <a:cs typeface="Times New Roman" panose="02020603050405020304" pitchFamily="18" charset="0"/>
              </a:rPr>
              <a:t>.</a:t>
            </a:r>
          </a:p>
          <a:p>
            <a:pPr algn="just">
              <a:lnSpc>
                <a:spcPct val="170000"/>
              </a:lnSpc>
            </a:pPr>
            <a:r>
              <a:rPr lang="en-IN" sz="1600" dirty="0">
                <a:latin typeface="Times New Roman" panose="02020603050405020304" pitchFamily="18" charset="0"/>
                <a:cs typeface="Times New Roman" panose="02020603050405020304" pitchFamily="18" charset="0"/>
              </a:rPr>
              <a:t>Saville, R., Fujiwara, A., Hatanaka, K., Wada, M., Yaman, A., Puspasari, R., </a:t>
            </a:r>
            <a:r>
              <a:rPr lang="en-IN" sz="1600" dirty="0" err="1">
                <a:latin typeface="Times New Roman" panose="02020603050405020304" pitchFamily="18" charset="0"/>
                <a:cs typeface="Times New Roman" panose="02020603050405020304" pitchFamily="18" charset="0"/>
              </a:rPr>
              <a:t>Albasri</a:t>
            </a:r>
            <a:r>
              <a:rPr lang="en-IN" sz="1600" dirty="0">
                <a:latin typeface="Times New Roman" panose="02020603050405020304" pitchFamily="18" charset="0"/>
                <a:cs typeface="Times New Roman" panose="02020603050405020304" pitchFamily="18" charset="0"/>
              </a:rPr>
              <a:t>, H., &amp; </a:t>
            </a:r>
            <a:r>
              <a:rPr lang="en-IN" sz="1600" dirty="0" err="1">
                <a:latin typeface="Times New Roman" panose="02020603050405020304" pitchFamily="18" charset="0"/>
                <a:cs typeface="Times New Roman" panose="02020603050405020304" pitchFamily="18" charset="0"/>
              </a:rPr>
              <a:t>Dwiyoga</a:t>
            </a:r>
            <a:r>
              <a:rPr lang="en-IN" sz="1600" dirty="0">
                <a:latin typeface="Times New Roman" panose="02020603050405020304" pitchFamily="18" charset="0"/>
                <a:cs typeface="Times New Roman" panose="02020603050405020304" pitchFamily="18" charset="0"/>
              </a:rPr>
              <a:t>, N. (2026). </a:t>
            </a:r>
            <a:r>
              <a:rPr lang="en-IN" sz="1600" i="1" dirty="0">
                <a:latin typeface="Times New Roman" panose="02020603050405020304" pitchFamily="18" charset="0"/>
                <a:cs typeface="Times New Roman" panose="02020603050405020304" pitchFamily="18" charset="0"/>
              </a:rPr>
              <a:t>AI-powered decision support system for mariculture: Real-time fish mortality prediction with random forest</a:t>
            </a:r>
            <a:r>
              <a:rPr lang="en-IN" sz="1600" dirty="0">
                <a:latin typeface="Times New Roman" panose="02020603050405020304" pitchFamily="18" charset="0"/>
                <a:cs typeface="Times New Roman" panose="02020603050405020304" pitchFamily="18" charset="0"/>
              </a:rPr>
              <a:t>. Aquacultural Engineering, 112, 102621.</a:t>
            </a:r>
          </a:p>
        </p:txBody>
      </p:sp>
    </p:spTree>
    <p:extLst>
      <p:ext uri="{BB962C8B-B14F-4D97-AF65-F5344CB8AC3E}">
        <p14:creationId xmlns:p14="http://schemas.microsoft.com/office/powerpoint/2010/main" val="3794785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9B2C24-F29B-19AF-4EE8-1D406CFBB015}"/>
              </a:ext>
            </a:extLst>
          </p:cNvPr>
          <p:cNvSpPr txBox="1"/>
          <p:nvPr/>
        </p:nvSpPr>
        <p:spPr>
          <a:xfrm>
            <a:off x="3011557" y="2703443"/>
            <a:ext cx="7414591" cy="1107996"/>
          </a:xfrm>
          <a:prstGeom prst="rect">
            <a:avLst/>
          </a:prstGeom>
          <a:noFill/>
        </p:spPr>
        <p:txBody>
          <a:bodyPr wrap="square" rtlCol="0">
            <a:spAutoFit/>
          </a:bodyPr>
          <a:lstStyle/>
          <a:p>
            <a:pPr algn="ctr"/>
            <a:r>
              <a:rPr lang="en-IN" sz="6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4963588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917</TotalTime>
  <Words>1164</Words>
  <Application>Microsoft Office PowerPoint</Application>
  <PresentationFormat>Widescreen</PresentationFormat>
  <Paragraphs>147</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Corbel</vt:lpstr>
      <vt:lpstr>Times New Roman</vt:lpstr>
      <vt:lpstr>Parallax</vt:lpstr>
      <vt:lpstr>Machine Learning-Based Early Prediction of Fish Diseases Through Water Quality Analysis</vt:lpstr>
      <vt:lpstr>Domains</vt:lpstr>
      <vt:lpstr>Outline</vt:lpstr>
      <vt:lpstr>ABSTRACT</vt:lpstr>
      <vt:lpstr>PROBLEM STATEMENT</vt:lpstr>
      <vt:lpstr>LITERATURE SURVEY</vt:lpstr>
      <vt:lpstr>LITERATURE SURVEY</vt:lpstr>
      <vt:lpstr>OBJECTIVES</vt:lpstr>
      <vt:lpstr>   SCOPE</vt:lpstr>
      <vt:lpstr>EXISTING SYSTEM</vt:lpstr>
      <vt:lpstr>EXISTING SYSTEM</vt:lpstr>
      <vt:lpstr> PROPOSED SYSTEM</vt:lpstr>
      <vt:lpstr> PROPOSED SYSTEM</vt:lpstr>
      <vt:lpstr>Existing Dataset vs Proposed Dataset</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Indhu Perumalla</dc:creator>
  <cp:lastModifiedBy>Indhu Perumalla</cp:lastModifiedBy>
  <cp:revision>28</cp:revision>
  <dcterms:created xsi:type="dcterms:W3CDTF">2025-12-20T15:44:50Z</dcterms:created>
  <dcterms:modified xsi:type="dcterms:W3CDTF">2026-08-21T17:30:01Z</dcterms:modified>
</cp:coreProperties>
</file>